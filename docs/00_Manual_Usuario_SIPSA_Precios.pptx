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3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theme/theme14.xml" ContentType="application/vnd.openxmlformats-officedocument.theme+xml"/>
  <Override PartName="/ppt/theme/theme15.xml" ContentType="application/vnd.openxmlformats-officedocument.theme+xml"/>
  <Override PartName="/ppt/theme/theme16.xml" ContentType="application/vnd.openxmlformats-officedocument.theme+xml"/>
  <Override PartName="/ppt/theme/theme17.xml" ContentType="application/vnd.openxmlformats-officedocument.theme+xml"/>
  <Override PartName="/ppt/theme/theme18.xml" ContentType="application/vnd.openxmlformats-officedocument.theme+xml"/>
  <Override PartName="/ppt/theme/theme19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737" r:id="rId4"/>
    <p:sldMasterId id="2147483739" r:id="rId5"/>
    <p:sldMasterId id="2147483744" r:id="rId6"/>
    <p:sldMasterId id="2147483693" r:id="rId7"/>
    <p:sldMasterId id="2147483684" r:id="rId8"/>
    <p:sldMasterId id="2147483713" r:id="rId9"/>
    <p:sldMasterId id="2147483715" r:id="rId10"/>
    <p:sldMasterId id="2147483717" r:id="rId11"/>
    <p:sldMasterId id="2147483711" r:id="rId12"/>
    <p:sldMasterId id="2147483705" r:id="rId13"/>
    <p:sldMasterId id="2147483747" r:id="rId14"/>
    <p:sldMasterId id="2147483750" r:id="rId15"/>
    <p:sldMasterId id="2147483753" r:id="rId16"/>
    <p:sldMasterId id="2147483755" r:id="rId17"/>
    <p:sldMasterId id="2147483757" r:id="rId18"/>
    <p:sldMasterId id="2147483762" r:id="rId19"/>
    <p:sldMasterId id="2147483764" r:id="rId20"/>
    <p:sldMasterId id="2147483766" r:id="rId21"/>
  </p:sldMasterIdLst>
  <p:notesMasterIdLst>
    <p:notesMasterId r:id="rId47"/>
  </p:notesMasterIdLst>
  <p:sldIdLst>
    <p:sldId id="2145706818" r:id="rId22"/>
    <p:sldId id="2145706932" r:id="rId23"/>
    <p:sldId id="2145706954" r:id="rId24"/>
    <p:sldId id="2145706519" r:id="rId60"/>
    <p:sldId id="2145706580" r:id="rId26"/>
    <p:sldId id="2145706788" r:id="rId65"/>
    <p:sldId id="2145706630" r:id="rId66"/>
    <p:sldId id="2145706696" r:id="rId67"/>
    <p:sldId id="2145706429" r:id="rId68"/>
    <p:sldId id="2145706982" r:id="rId61"/>
    <p:sldId id="2145706409" r:id="rId69"/>
    <p:sldId id="2145706502" r:id="rId62"/>
    <p:sldId id="2145706560" r:id="rId73"/>
    <p:sldId id="2145706926" r:id="rId70"/>
    <p:sldId id="2145706710" r:id="rId75"/>
    <p:sldId id="2145706787" r:id="rId63"/>
    <p:sldId id="2145706814" r:id="rId74"/>
    <p:sldId id="2145706733" r:id="rId71"/>
    <p:sldId id="2145706766" r:id="rId76"/>
    <p:sldId id="2145706475" r:id="rId77"/>
    <p:sldId id="2145706746" r:id="rId43"/>
    <p:sldId id="2145706689" r:id="rId64"/>
    <p:sldId id="2145706562" r:id="rId72"/>
    <p:sldId id="2145706514" r:id="rId46"/>
  </p:sldIdLst>
  <p:sldSz cx="9144000" cy="5143500" type="screen16x9"/>
  <p:notesSz cx="7010400" cy="9296400"/>
  <p:embeddedFontLst>
    <p:embeddedFont>
      <p:font typeface="Encode Sans Condensed" panose="020B0604020202020204" charset="0"/>
      <p:regular r:id="rId48"/>
      <p:bold r:id="rId49"/>
    </p:embeddedFont>
    <p:embeddedFont>
      <p:font typeface="Segoe UI" panose="020B0502040204020203" pitchFamily="34" charset="0"/>
      <p:regular r:id="rId50"/>
      <p:bold r:id="rId51"/>
      <p:italic r:id="rId52"/>
      <p:boldItalic r:id="rId53"/>
    </p:embeddedFont>
  </p:embeddedFontLst>
  <p:custDataLst>
    <p:tags r:id="rId54"/>
  </p:custDataLst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43" userDrawn="1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ren Andrea Garcia Rojas" initials="KAGR" lastIdx="1" clrIdx="0">
    <p:extLst>
      <p:ext uri="{19B8F6BF-5375-455C-9EA6-DF929625EA0E}">
        <p15:presenceInfo xmlns:p15="http://schemas.microsoft.com/office/powerpoint/2012/main" userId="Karen Andrea Garcia Rojas" providerId="None"/>
      </p:ext>
    </p:extLst>
  </p:cmAuthor>
  <p:cmAuthor id="2" name="Andres Francisco Mejia Bocanegra" initials="AFMB" lastIdx="1" clrIdx="1">
    <p:extLst>
      <p:ext uri="{19B8F6BF-5375-455C-9EA6-DF929625EA0E}">
        <p15:presenceInfo xmlns:p15="http://schemas.microsoft.com/office/powerpoint/2012/main" userId="S-1-5-21-2099920240-1651340864-1353397897-97936" providerId="AD"/>
      </p:ext>
    </p:extLst>
  </p:cmAuthor>
  <p:cmAuthor id="3" name="Angela Lucia Forero Vargas" initials="AF" lastIdx="1" clrIdx="2">
    <p:extLst>
      <p:ext uri="{19B8F6BF-5375-455C-9EA6-DF929625EA0E}">
        <p15:presenceInfo xmlns:p15="http://schemas.microsoft.com/office/powerpoint/2012/main" userId="Angela Lucia Forero Vargas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C0425"/>
    <a:srgbClr val="B6004C"/>
    <a:srgbClr val="FF99CC"/>
    <a:srgbClr val="8D143D"/>
    <a:srgbClr val="7F7F7F"/>
    <a:srgbClr val="EF3C6F"/>
    <a:srgbClr val="6F2A4D"/>
    <a:srgbClr val="FEC03B"/>
    <a:srgbClr val="6B234A"/>
    <a:srgbClr val="6F26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929F9F4-4A8F-4326-A1B4-22849713DDAB}" styleName="Estilo oscuro 1 - Énfasis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8D230F3-CF80-4859-8CE7-A43EE81993B5}" styleName="Estilo claro 1 - Acento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FD4443E-F989-4FC4-A0C8-D5A2AF1F390B}" styleName="Estilo oscuro 1 - Énfasis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941" autoAdjust="0"/>
    <p:restoredTop sz="94038"/>
  </p:normalViewPr>
  <p:slideViewPr>
    <p:cSldViewPr snapToGrid="0">
      <p:cViewPr varScale="1">
        <p:scale>
          <a:sx n="147" d="100"/>
          <a:sy n="147" d="100"/>
        </p:scale>
        <p:origin x="1008" y="108"/>
      </p:cViewPr>
      <p:guideLst>
        <p:guide orient="horz" pos="1643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70" y="72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0" Type="http://schemas.openxmlformats.org/officeDocument/2006/relationships/slideMaster" Target="slideMasters/slideMaster7.xml"/><Relationship Id="rId11" Type="http://schemas.openxmlformats.org/officeDocument/2006/relationships/slideMaster" Target="slideMasters/slideMaster8.xml"/><Relationship Id="rId12" Type="http://schemas.openxmlformats.org/officeDocument/2006/relationships/slideMaster" Target="slideMasters/slideMaster9.xml"/><Relationship Id="rId13" Type="http://schemas.openxmlformats.org/officeDocument/2006/relationships/slideMaster" Target="slideMasters/slideMaster10.xml"/><Relationship Id="rId14" Type="http://schemas.openxmlformats.org/officeDocument/2006/relationships/slideMaster" Target="slideMasters/slideMaster11.xml"/><Relationship Id="rId15" Type="http://schemas.openxmlformats.org/officeDocument/2006/relationships/slideMaster" Target="slideMasters/slideMaster12.xml"/><Relationship Id="rId16" Type="http://schemas.openxmlformats.org/officeDocument/2006/relationships/slideMaster" Target="slideMasters/slideMaster13.xml"/><Relationship Id="rId17" Type="http://schemas.openxmlformats.org/officeDocument/2006/relationships/slideMaster" Target="slideMasters/slideMaster14.xml"/><Relationship Id="rId18" Type="http://schemas.openxmlformats.org/officeDocument/2006/relationships/slideMaster" Target="slideMasters/slideMaster15.xml"/><Relationship Id="rId19" Type="http://schemas.openxmlformats.org/officeDocument/2006/relationships/slideMaster" Target="slideMasters/slideMaster16.xml"/><Relationship Id="rId20" Type="http://schemas.openxmlformats.org/officeDocument/2006/relationships/slideMaster" Target="slideMasters/slideMaster17.xml"/><Relationship Id="rId21" Type="http://schemas.openxmlformats.org/officeDocument/2006/relationships/slideMaster" Target="slideMasters/slideMaster18.xml"/><Relationship Id="rId22" Type="http://schemas.openxmlformats.org/officeDocument/2006/relationships/slide" Target="slides/slide1.xml"/><Relationship Id="rId23" Type="http://schemas.openxmlformats.org/officeDocument/2006/relationships/slide" Target="slides/slide2.xml"/><Relationship Id="rId24" Type="http://schemas.openxmlformats.org/officeDocument/2006/relationships/slide" Target="slides/slide3.xml"/><Relationship Id="rId26" Type="http://schemas.openxmlformats.org/officeDocument/2006/relationships/slide" Target="slides/slide5.xml"/><Relationship Id="rId43" Type="http://schemas.openxmlformats.org/officeDocument/2006/relationships/slide" Target="slides/slide21.xml"/><Relationship Id="rId46" Type="http://schemas.openxmlformats.org/officeDocument/2006/relationships/slide" Target="slides/slide24.xml"/><Relationship Id="rId47" Type="http://schemas.openxmlformats.org/officeDocument/2006/relationships/notesMaster" Target="notesMasters/notesMaster1.xml"/><Relationship Id="rId48" Type="http://schemas.openxmlformats.org/officeDocument/2006/relationships/font" Target="fonts/font1.fntdata"/><Relationship Id="rId49" Type="http://schemas.openxmlformats.org/officeDocument/2006/relationships/font" Target="fonts/font2.fntdata"/><Relationship Id="rId50" Type="http://schemas.openxmlformats.org/officeDocument/2006/relationships/font" Target="fonts/font3.fntdata"/><Relationship Id="rId51" Type="http://schemas.openxmlformats.org/officeDocument/2006/relationships/font" Target="fonts/font4.fntdata"/><Relationship Id="rId52" Type="http://schemas.openxmlformats.org/officeDocument/2006/relationships/font" Target="fonts/font5.fntdata"/><Relationship Id="rId53" Type="http://schemas.openxmlformats.org/officeDocument/2006/relationships/font" Target="fonts/font6.fntdata"/><Relationship Id="rId54" Type="http://schemas.openxmlformats.org/officeDocument/2006/relationships/tags" Target="tags/tag1.xml"/><Relationship Id="rId55" Type="http://schemas.openxmlformats.org/officeDocument/2006/relationships/commentAuthors" Target="commentAuthors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60" Type="http://schemas.openxmlformats.org/officeDocument/2006/relationships/slide" Target="slides/slide4.xml"/><Relationship Id="rId61" Type="http://schemas.openxmlformats.org/officeDocument/2006/relationships/slide" Target="slides/slide10.xml"/><Relationship Id="rId62" Type="http://schemas.openxmlformats.org/officeDocument/2006/relationships/slide" Target="slides/slide12.xml"/><Relationship Id="rId63" Type="http://schemas.openxmlformats.org/officeDocument/2006/relationships/slide" Target="slides/slide16.xml"/><Relationship Id="rId64" Type="http://schemas.openxmlformats.org/officeDocument/2006/relationships/slide" Target="slides/slide22.xml"/><Relationship Id="rId65" Type="http://schemas.openxmlformats.org/officeDocument/2006/relationships/slide" Target="slides/slide6.xml"/><Relationship Id="rId66" Type="http://schemas.openxmlformats.org/officeDocument/2006/relationships/slide" Target="slides/slide7.xml"/><Relationship Id="rId67" Type="http://schemas.openxmlformats.org/officeDocument/2006/relationships/slide" Target="slides/slide8.xml"/><Relationship Id="rId68" Type="http://schemas.openxmlformats.org/officeDocument/2006/relationships/slide" Target="slides/slide9.xml"/><Relationship Id="rId69" Type="http://schemas.openxmlformats.org/officeDocument/2006/relationships/slide" Target="slides/slide11.xml"/><Relationship Id="rId70" Type="http://schemas.openxmlformats.org/officeDocument/2006/relationships/slide" Target="slides/slide14.xml"/><Relationship Id="rId71" Type="http://schemas.openxmlformats.org/officeDocument/2006/relationships/slide" Target="slides/slide18.xml"/><Relationship Id="rId72" Type="http://schemas.openxmlformats.org/officeDocument/2006/relationships/slide" Target="slides/slide23.xml"/><Relationship Id="rId73" Type="http://schemas.openxmlformats.org/officeDocument/2006/relationships/slide" Target="slides/slide13.xml"/><Relationship Id="rId74" Type="http://schemas.openxmlformats.org/officeDocument/2006/relationships/slide" Target="slides/slide17.xml"/><Relationship Id="rId75" Type="http://schemas.openxmlformats.org/officeDocument/2006/relationships/slide" Target="slides/slide15.xml"/><Relationship Id="rId76" Type="http://schemas.openxmlformats.org/officeDocument/2006/relationships/slide" Target="slides/slide19.xml"/><Relationship Id="rId7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809733-6C35-0144-8DCF-77480CA47BBE}" type="datetimeFigureOut">
              <a:rPr lang="es-ES" smtClean="0"/>
              <a:t>21/10/2025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_tradnl"/>
              <a:t>Haga clic para modificar el estilo de texto del patrón</a:t>
            </a:r>
          </a:p>
          <a:p>
            <a:pPr lvl="1"/>
            <a:r>
              <a:rPr lang="es-ES_tradnl"/>
              <a:t>Segundo nivel</a:t>
            </a:r>
          </a:p>
          <a:p>
            <a:pPr lvl="2"/>
            <a:r>
              <a:rPr lang="es-ES_tradnl"/>
              <a:t>Tercer nivel</a:t>
            </a:r>
          </a:p>
          <a:p>
            <a:pPr lvl="3"/>
            <a:r>
              <a:rPr lang="es-ES_tradnl"/>
              <a:t>Cuarto nivel</a:t>
            </a:r>
          </a:p>
          <a:p>
            <a:pPr lvl="4"/>
            <a:r>
              <a:rPr lang="es-ES_tradnl"/>
              <a:t>Quinto nivel</a:t>
            </a:r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29966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70938" y="8829966"/>
            <a:ext cx="303784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0A825F-C5BC-0945-9745-BFEF151ECAA1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40022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30A825F-C5BC-0945-9745-BFEF151ECAA1}" type="slidenum">
              <a:rPr kumimoji="0" lang="es-E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91706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30A825F-C5BC-0945-9745-BFEF151ECAA1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519033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230A825F-C5BC-0945-9745-BFEF151ECAA1}" type="slidenum">
              <a:rPr kumimoji="0" lang="es-ES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25</a:t>
            </a:fld>
            <a:endParaRPr kumimoji="0" lang="es-E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752979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3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6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7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8.xml"/><Relationship Id="rId2" Type="http://schemas.openxmlformats.org/officeDocument/2006/relationships/image" Target="../media/image5.png"/><Relationship Id="rId3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499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93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4995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843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6101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8314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861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32839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098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678710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60493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3743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28234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19431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25425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preserve="1">
  <p:cSld name="Título y objeto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06FA0AE9-FC3A-B54C-682F-C79A2B6779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1799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263413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89598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38446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preserve="1">
  <p:cSld name="Título y objeto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06FA0AE9-FC3A-B54C-682F-C79A2B6779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840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preserve="1">
  <p:cSld name="Título y objeto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06FA0AE9-FC3A-B54C-682F-C79A2B6779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4833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preserve="1">
  <p:cSld name="Título y objetos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06FA0AE9-FC3A-B54C-682F-C79A2B6779F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176337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Relationship Id="rId4" Type="http://schemas.openxmlformats.org/officeDocument/2006/relationships/image" Target="../media/image1.jp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Relationship Id="rId3" Type="http://schemas.openxmlformats.org/officeDocument/2006/relationships/image" Target="../media/image4.jp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3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4.xml"/><Relationship Id="rId3" Type="http://schemas.openxmlformats.org/officeDocument/2006/relationships/image" Target="../media/image8.jp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5.xml"/><Relationship Id="rId3" Type="http://schemas.openxmlformats.org/officeDocument/2006/relationships/image" Target="../media/image9.jp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6.xml"/><Relationship Id="rId3" Type="http://schemas.openxmlformats.org/officeDocument/2006/relationships/image" Target="../media/image10.jp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Masters/_rels/slideMaster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7.xml"/><Relationship Id="rId3" Type="http://schemas.openxmlformats.org/officeDocument/2006/relationships/image" Target="../media/image11.jp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Masters/_rels/slideMaster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8.xml"/><Relationship Id="rId3" Type="http://schemas.openxmlformats.org/officeDocument/2006/relationships/image" Target="../media/image12.jp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Masters/_rels/slideMaster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9.xml"/><Relationship Id="rId3" Type="http://schemas.openxmlformats.org/officeDocument/2006/relationships/image" Target="../media/image13.png"/><Relationship Id="rId4" Type="http://schemas.openxmlformats.org/officeDocument/2006/relationships/image" Target="../media/image14.svg"/><Relationship Id="rId5" Type="http://schemas.openxmlformats.org/officeDocument/2006/relationships/image" Target="../media/image15.png"/><Relationship Id="rId6" Type="http://schemas.openxmlformats.org/officeDocument/2006/relationships/image" Target="../media/image16.svg"/></Relationships>
</file>

<file path=ppt/slideMasters/_rels/slideMaster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theme" Target="../theme/theme10.xml"/><Relationship Id="rId3" Type="http://schemas.openxmlformats.org/officeDocument/2006/relationships/image" Target="../media/image17.png"/><Relationship Id="rId4" Type="http://schemas.openxmlformats.org/officeDocument/2006/relationships/image" Target="../media/image18.svg"/><Relationship Id="rId5" Type="http://schemas.openxmlformats.org/officeDocument/2006/relationships/image" Target="../media/image19.png"/><Relationship Id="rId6" Type="http://schemas.openxmlformats.org/officeDocument/2006/relationships/image" Target="../media/image20.svg"/><Relationship Id="rId7" Type="http://schemas.openxmlformats.org/officeDocument/2006/relationships/image" Target="../media/image21.png"/><Relationship Id="rId8" Type="http://schemas.openxmlformats.org/officeDocument/2006/relationships/image" Target="../media/image22.jpg"/><Relationship Id="rId9" Type="http://schemas.openxmlformats.org/officeDocument/2006/relationships/image" Target="../media/image2.png"/><Relationship Id="rId10" Type="http://schemas.openxmlformats.org/officeDocument/2006/relationships/image" Target="../media/image3.svg"/></Relationships>
</file>

<file path=ppt/slideMasters/_rels/slideMaster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theme" Target="../theme/theme11.xml"/><Relationship Id="rId4" Type="http://schemas.openxmlformats.org/officeDocument/2006/relationships/image" Target="../media/image23.pn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Masters/_rels/slideMaster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5.xml"/><Relationship Id="rId3" Type="http://schemas.openxmlformats.org/officeDocument/2006/relationships/theme" Target="../theme/theme12.xml"/><Relationship Id="rId4" Type="http://schemas.openxmlformats.org/officeDocument/2006/relationships/image" Target="../media/image24.png"/><Relationship Id="rId5" Type="http://schemas.openxmlformats.org/officeDocument/2006/relationships/image" Target="../media/image2.png"/><Relationship Id="rId6" Type="http://schemas.openxmlformats.org/officeDocument/2006/relationships/image" Target="../media/image3.svg"/></Relationships>
</file>

<file path=ppt/slideMasters/_rels/slideMaster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theme" Target="../theme/theme13.xml"/><Relationship Id="rId3" Type="http://schemas.openxmlformats.org/officeDocument/2006/relationships/image" Target="../media/image25.png"/></Relationships>
</file>

<file path=ppt/slideMasters/_rels/slideMaster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theme" Target="../theme/theme14.xml"/><Relationship Id="rId3" Type="http://schemas.openxmlformats.org/officeDocument/2006/relationships/image" Target="../media/image26.png"/><Relationship Id="rId4" Type="http://schemas.openxmlformats.org/officeDocument/2006/relationships/image" Target="../media/image5.png"/><Relationship Id="rId5" Type="http://schemas.openxmlformats.org/officeDocument/2006/relationships/image" Target="../media/image6.svg"/></Relationships>
</file>

<file path=ppt/slideMasters/_rels/slideMaster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9.xml"/><Relationship Id="rId3" Type="http://schemas.openxmlformats.org/officeDocument/2006/relationships/theme" Target="../theme/theme15.xml"/><Relationship Id="rId4" Type="http://schemas.openxmlformats.org/officeDocument/2006/relationships/image" Target="../media/image27.png"/><Relationship Id="rId5" Type="http://schemas.openxmlformats.org/officeDocument/2006/relationships/image" Target="../media/image5.png"/><Relationship Id="rId6" Type="http://schemas.openxmlformats.org/officeDocument/2006/relationships/image" Target="../media/image6.svg"/></Relationships>
</file>

<file path=ppt/slideMasters/_rels/slideMaster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theme" Target="../theme/theme16.xml"/><Relationship Id="rId3" Type="http://schemas.openxmlformats.org/officeDocument/2006/relationships/image" Target="../media/image28.png"/></Relationships>
</file>

<file path=ppt/slideMasters/_rels/slideMaster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theme" Target="../theme/theme17.xml"/><Relationship Id="rId3" Type="http://schemas.openxmlformats.org/officeDocument/2006/relationships/image" Target="../media/image1.jpg"/></Relationships>
</file>

<file path=ppt/slideMasters/_rels/slideMaster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theme" Target="../theme/theme18.xml"/><Relationship Id="rId3" Type="http://schemas.openxmlformats.org/officeDocument/2006/relationships/image" Target="../media/image2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8C6DEB6-40D6-9E2F-CFD1-7CFD24159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8647" y="-1225"/>
            <a:ext cx="9270597" cy="5211579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504D5A50-EE84-A1FF-AAE1-9896F2ECCEC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496" y="644825"/>
            <a:ext cx="1640096" cy="50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884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46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9D11CB7-43AD-BB3B-57ED-9C938F0E7EA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142042" y="-60385"/>
            <a:ext cx="9316370" cy="5237311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7978BB54-9B8D-4749-B9CE-BEE1A777E6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5115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7E07A00-4FA5-4A9D-AA55-1540957639F5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25813" y="-8909"/>
            <a:ext cx="9178571" cy="5156739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C03E934E-2E99-4BC2-AD10-26AB659C6E2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447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4F135D3F-54DC-F9BA-200A-8B8537420DB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20843" y="-47422"/>
            <a:ext cx="9276986" cy="5215170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F4A4EC75-A6CF-46C4-B01A-E41B8C3548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8447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7A0399B5-2DD9-44E1-FA00-C969C4D98C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-29421"/>
            <a:ext cx="9235568" cy="5191886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798C35C0-05E9-4494-9C8C-AE8C1886D39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0637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E155987-4DFD-F329-9EA6-F5F082F93DE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34504" y="-17854"/>
            <a:ext cx="9181256" cy="5161354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563870F5-6EC0-449B-8F42-A7B1CD904CB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559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50DEFF83-2FB9-8A2D-9AFD-9CEE81634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2751" y="-38048"/>
            <a:ext cx="9258894" cy="5204999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A3053382-5618-4181-A28D-81081293759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6453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CC9EF76C-CE43-F565-6569-BD72E39136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69010" y="-38796"/>
            <a:ext cx="9282022" cy="5218001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21001B8F-E0AC-456F-8BB0-C65DC6CD561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254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áfico 3">
            <a:extLst>
              <a:ext uri="{FF2B5EF4-FFF2-40B4-BE49-F238E27FC236}">
                <a16:creationId xmlns:a16="http://schemas.microsoft.com/office/drawing/2014/main" id="{36F0E976-8F35-992F-E69D-AB755861F79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8092" y="-15116"/>
            <a:ext cx="85434" cy="5175868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E7FEBCF9-9B36-455A-926F-46D66E478F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11268" y="256263"/>
            <a:ext cx="344868" cy="34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3827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uadroTexto 10">
            <a:extLst>
              <a:ext uri="{FF2B5EF4-FFF2-40B4-BE49-F238E27FC236}">
                <a16:creationId xmlns:a16="http://schemas.microsoft.com/office/drawing/2014/main" id="{29FA6D40-4D9D-A9D6-5BB1-9F2183F8F447}"/>
              </a:ext>
            </a:extLst>
          </p:cNvPr>
          <p:cNvSpPr txBox="1"/>
          <p:nvPr/>
        </p:nvSpPr>
        <p:spPr>
          <a:xfrm>
            <a:off x="654945" y="4611562"/>
            <a:ext cx="861691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700" dirty="0">
                <a:solidFill>
                  <a:srgbClr val="6F2A4D"/>
                </a:solidFill>
                <a:latin typeface="+mj-lt"/>
              </a:rPr>
              <a:t>/</a:t>
            </a:r>
            <a:r>
              <a:rPr lang="es-CO" sz="700" dirty="0" err="1">
                <a:solidFill>
                  <a:srgbClr val="6F2A4D"/>
                </a:solidFill>
                <a:latin typeface="+mj-lt"/>
              </a:rPr>
              <a:t>DANEColombia</a:t>
            </a:r>
            <a:endParaRPr lang="es-CO" sz="700" dirty="0">
              <a:solidFill>
                <a:srgbClr val="6F2A4D"/>
              </a:solidFill>
              <a:latin typeface="+mj-lt"/>
            </a:endParaRP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A2693149-7AF1-6BB7-DDE7-2FFE766D1CDE}"/>
              </a:ext>
            </a:extLst>
          </p:cNvPr>
          <p:cNvSpPr txBox="1"/>
          <p:nvPr/>
        </p:nvSpPr>
        <p:spPr>
          <a:xfrm>
            <a:off x="1748051" y="4611562"/>
            <a:ext cx="9696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700" kern="1200" dirty="0">
                <a:solidFill>
                  <a:srgbClr val="6F2A4D"/>
                </a:solidFill>
                <a:latin typeface="+mj-lt"/>
                <a:ea typeface="+mn-ea"/>
                <a:cs typeface="+mn-cs"/>
              </a:rPr>
              <a:t>@DANE_Colombia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27D1182-310A-60A6-3572-46F41FAE0EA4}"/>
              </a:ext>
            </a:extLst>
          </p:cNvPr>
          <p:cNvSpPr txBox="1"/>
          <p:nvPr/>
        </p:nvSpPr>
        <p:spPr>
          <a:xfrm>
            <a:off x="2901144" y="4605632"/>
            <a:ext cx="969645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700" kern="1200" dirty="0">
                <a:solidFill>
                  <a:srgbClr val="6F2A4D"/>
                </a:solidFill>
                <a:latin typeface="+mj-lt"/>
                <a:ea typeface="+mn-ea"/>
                <a:cs typeface="+mn-cs"/>
              </a:rPr>
              <a:t>@DANEColombia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B1E1DD0-1E17-DF8F-2B84-7B7F11CC48D1}"/>
              </a:ext>
            </a:extLst>
          </p:cNvPr>
          <p:cNvSpPr txBox="1"/>
          <p:nvPr/>
        </p:nvSpPr>
        <p:spPr>
          <a:xfrm>
            <a:off x="4010094" y="4611562"/>
            <a:ext cx="829949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700" dirty="0">
                <a:solidFill>
                  <a:srgbClr val="6F2A4D"/>
                </a:solidFill>
                <a:latin typeface="+mj-lt"/>
              </a:rPr>
              <a:t>/</a:t>
            </a:r>
            <a:r>
              <a:rPr lang="es-CO" sz="700" dirty="0" err="1">
                <a:solidFill>
                  <a:srgbClr val="6F2A4D"/>
                </a:solidFill>
                <a:latin typeface="+mj-lt"/>
              </a:rPr>
              <a:t>DANEColombia</a:t>
            </a:r>
            <a:endParaRPr lang="es-CO" sz="700" dirty="0">
              <a:solidFill>
                <a:srgbClr val="6F2A4D"/>
              </a:solidFill>
              <a:latin typeface="+mj-lt"/>
            </a:endParaRPr>
          </a:p>
        </p:txBody>
      </p:sp>
      <p:pic>
        <p:nvPicPr>
          <p:cNvPr id="15" name="Gráfico 14">
            <a:extLst>
              <a:ext uri="{FF2B5EF4-FFF2-40B4-BE49-F238E27FC236}">
                <a16:creationId xmlns:a16="http://schemas.microsoft.com/office/drawing/2014/main" id="{B8FAE050-48B0-94F0-B936-60DE4159B1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1261" t="10890" r="94630" b="14357"/>
          <a:stretch/>
        </p:blipFill>
        <p:spPr>
          <a:xfrm>
            <a:off x="497086" y="4611561"/>
            <a:ext cx="157859" cy="188051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99634D0D-73E4-2C50-9CF9-71C6BE71897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53732" t="23205" r="41213" b="16925"/>
          <a:stretch/>
        </p:blipFill>
        <p:spPr>
          <a:xfrm>
            <a:off x="2738959" y="4642091"/>
            <a:ext cx="194236" cy="150609"/>
          </a:xfrm>
          <a:prstGeom prst="rect">
            <a:avLst/>
          </a:prstGeom>
        </p:spPr>
      </p:pic>
      <p:pic>
        <p:nvPicPr>
          <p:cNvPr id="17" name="Gráfico 16">
            <a:extLst>
              <a:ext uri="{FF2B5EF4-FFF2-40B4-BE49-F238E27FC236}">
                <a16:creationId xmlns:a16="http://schemas.microsoft.com/office/drawing/2014/main" id="{EAE24192-D127-7EB6-6678-A8647892C24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80439" t="22767" r="15253" b="17363"/>
          <a:stretch/>
        </p:blipFill>
        <p:spPr>
          <a:xfrm>
            <a:off x="3860224" y="4649004"/>
            <a:ext cx="165500" cy="150609"/>
          </a:xfrm>
          <a:prstGeom prst="rect">
            <a:avLst/>
          </a:prstGeom>
        </p:spPr>
      </p:pic>
      <p:pic>
        <p:nvPicPr>
          <p:cNvPr id="18" name="Gráfico 17">
            <a:extLst>
              <a:ext uri="{FF2B5EF4-FFF2-40B4-BE49-F238E27FC236}">
                <a16:creationId xmlns:a16="http://schemas.microsoft.com/office/drawing/2014/main" id="{48860669-5E6A-6B94-3B89-50245DFC13E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3928" y="4649003"/>
            <a:ext cx="147901" cy="138809"/>
          </a:xfrm>
          <a:prstGeom prst="rect">
            <a:avLst/>
          </a:prstGeom>
        </p:spPr>
      </p:pic>
      <p:sp>
        <p:nvSpPr>
          <p:cNvPr id="19" name="Elipse 18">
            <a:extLst>
              <a:ext uri="{FF2B5EF4-FFF2-40B4-BE49-F238E27FC236}">
                <a16:creationId xmlns:a16="http://schemas.microsoft.com/office/drawing/2014/main" id="{7D02E8D7-2B0B-F4D1-6FF1-748F1168C7E7}"/>
              </a:ext>
            </a:extLst>
          </p:cNvPr>
          <p:cNvSpPr/>
          <p:nvPr userDrawn="1"/>
        </p:nvSpPr>
        <p:spPr>
          <a:xfrm>
            <a:off x="437288" y="4581616"/>
            <a:ext cx="271565" cy="271565"/>
          </a:xfrm>
          <a:prstGeom prst="ellipse">
            <a:avLst/>
          </a:prstGeom>
          <a:noFill/>
          <a:ln>
            <a:solidFill>
              <a:srgbClr val="EF3C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>
              <a:solidFill>
                <a:srgbClr val="B6004C"/>
              </a:solidFill>
            </a:endParaRPr>
          </a:p>
        </p:txBody>
      </p:sp>
      <p:sp>
        <p:nvSpPr>
          <p:cNvPr id="20" name="Elipse 19">
            <a:extLst>
              <a:ext uri="{FF2B5EF4-FFF2-40B4-BE49-F238E27FC236}">
                <a16:creationId xmlns:a16="http://schemas.microsoft.com/office/drawing/2014/main" id="{E921DE08-D94C-6A26-1D40-6C81D84D6658}"/>
              </a:ext>
            </a:extLst>
          </p:cNvPr>
          <p:cNvSpPr/>
          <p:nvPr userDrawn="1"/>
        </p:nvSpPr>
        <p:spPr>
          <a:xfrm>
            <a:off x="1521745" y="4581616"/>
            <a:ext cx="271565" cy="271565"/>
          </a:xfrm>
          <a:prstGeom prst="ellipse">
            <a:avLst/>
          </a:prstGeom>
          <a:noFill/>
          <a:ln>
            <a:solidFill>
              <a:srgbClr val="EF3C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4B6DBCF7-766E-AEDE-911B-4894E08146B1}"/>
              </a:ext>
            </a:extLst>
          </p:cNvPr>
          <p:cNvSpPr/>
          <p:nvPr userDrawn="1"/>
        </p:nvSpPr>
        <p:spPr>
          <a:xfrm>
            <a:off x="2695940" y="4581616"/>
            <a:ext cx="271565" cy="271565"/>
          </a:xfrm>
          <a:prstGeom prst="ellipse">
            <a:avLst/>
          </a:prstGeom>
          <a:noFill/>
          <a:ln>
            <a:solidFill>
              <a:srgbClr val="EF3C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2" name="Elipse 21">
            <a:extLst>
              <a:ext uri="{FF2B5EF4-FFF2-40B4-BE49-F238E27FC236}">
                <a16:creationId xmlns:a16="http://schemas.microsoft.com/office/drawing/2014/main" id="{C585E222-65B8-B07D-2E07-A1411617107C}"/>
              </a:ext>
            </a:extLst>
          </p:cNvPr>
          <p:cNvSpPr/>
          <p:nvPr userDrawn="1"/>
        </p:nvSpPr>
        <p:spPr>
          <a:xfrm>
            <a:off x="3801708" y="4581616"/>
            <a:ext cx="271565" cy="271565"/>
          </a:xfrm>
          <a:prstGeom prst="ellipse">
            <a:avLst/>
          </a:prstGeom>
          <a:noFill/>
          <a:ln>
            <a:solidFill>
              <a:srgbClr val="EF3C6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pic>
        <p:nvPicPr>
          <p:cNvPr id="4" name="Imagen 3" descr="Logotipo&#10;&#10;Descripción generada automáticamente">
            <a:extLst>
              <a:ext uri="{FF2B5EF4-FFF2-40B4-BE49-F238E27FC236}">
                <a16:creationId xmlns:a16="http://schemas.microsoft.com/office/drawing/2014/main" id="{F2150834-82C3-6FB9-078F-0E52B9E58392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389107" y="276670"/>
            <a:ext cx="1731523" cy="675294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F86D631-5488-5FAB-4A77-312C66423C94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rcRect/>
          <a:stretch/>
        </p:blipFill>
        <p:spPr>
          <a:xfrm>
            <a:off x="-26332" y="-43133"/>
            <a:ext cx="9280489" cy="521714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FF2384E-F27E-57F3-F08B-9E9188F79B30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47496" y="644825"/>
            <a:ext cx="1640096" cy="50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596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8C6DEB6-40D6-9E2F-CFD1-7CFD24159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58647" y="343"/>
            <a:ext cx="9270597" cy="5208442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504D5A50-EE84-A1FF-AAE1-9896F2ECCEC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496" y="644825"/>
            <a:ext cx="1640096" cy="50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9106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8C6DEB6-40D6-9E2F-CFD1-7CFD24159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58647" y="343"/>
            <a:ext cx="9270596" cy="5208441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504D5A50-EE84-A1FF-AAE1-9896F2ECCEC8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47496" y="644825"/>
            <a:ext cx="1640096" cy="50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522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persona, interior, hombre, viendo&#10;&#10;El contenido generado por IA puede ser incorrecto.">
            <a:extLst>
              <a:ext uri="{FF2B5EF4-FFF2-40B4-BE49-F238E27FC236}">
                <a16:creationId xmlns:a16="http://schemas.microsoft.com/office/drawing/2014/main" id="{050E551A-D5D2-BC5B-9E52-5038F92284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091"/>
            <a:ext cx="9144000" cy="5137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668907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5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Imagen que contiene persona, interior, viendo, ventana&#10;&#10;El contenido generado por IA puede ser incorrecto.">
            <a:extLst>
              <a:ext uri="{FF2B5EF4-FFF2-40B4-BE49-F238E27FC236}">
                <a16:creationId xmlns:a16="http://schemas.microsoft.com/office/drawing/2014/main" id="{B92AD73B-DD57-2FE7-B8F6-F54DCA85609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3091"/>
            <a:ext cx="9144000" cy="5137317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7978BB54-9B8D-4749-B9CE-BEE1A777E6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707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E8C6DEB6-40D6-9E2F-CFD1-7CFD24159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8647" y="343"/>
            <a:ext cx="9270595" cy="5208440"/>
          </a:xfrm>
          <a:prstGeom prst="rect">
            <a:avLst/>
          </a:prstGeom>
        </p:spPr>
      </p:pic>
      <p:pic>
        <p:nvPicPr>
          <p:cNvPr id="4" name="Gráfico 3">
            <a:extLst>
              <a:ext uri="{FF2B5EF4-FFF2-40B4-BE49-F238E27FC236}">
                <a16:creationId xmlns:a16="http://schemas.microsoft.com/office/drawing/2014/main" id="{CF2A461B-7C50-4EC8-AE20-F9952181E1C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11267" y="256263"/>
            <a:ext cx="344867" cy="34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7923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C0CF3200-06D4-6138-C1B0-9ED90A53CFD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3091"/>
            <a:ext cx="9144000" cy="5137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41448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63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D7EC743-D85B-6C0B-3D37-56841B0BC3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126597" y="-28960"/>
            <a:ext cx="9322112" cy="524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58868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65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D7EC743-D85B-6C0B-3D37-56841B0BC3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-126597" y="-27383"/>
            <a:ext cx="9322112" cy="5237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83452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67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3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553">
            <a:extLst>
              <a:ext uri="{FF2B5EF4-FFF2-40B4-BE49-F238E27FC236}">
                <a16:creationId xmlns:a16="http://schemas.microsoft.com/office/drawing/2014/main" id="{E6DF6675-EB3B-3FE7-396A-4D715E273E59}"/>
              </a:ext>
            </a:extLst>
          </p:cNvPr>
          <p:cNvSpPr txBox="1">
            <a:spLocks/>
          </p:cNvSpPr>
          <p:nvPr/>
        </p:nvSpPr>
        <p:spPr>
          <a:xfrm>
            <a:off x="452208" y="1723280"/>
            <a:ext cx="3267737" cy="1013739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12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4000" b="0" i="0" u="none" strike="noStrike" kern="1200" cap="none" spc="0" normalizeH="0" baseline="0" noProof="0" dirty="0">
                <a:ln>
                  <a:noFill/>
                </a:ln>
                <a:solidFill>
                  <a:srgbClr val="B6004C"/>
                </a:solidFill>
                <a:effectLst/>
                <a:uLnTx/>
                <a:uFillTx/>
                <a:latin typeface="Segoe UI"/>
                <a:ea typeface="+mn-ea"/>
                <a:cs typeface="+mn-cs"/>
                <a:sym typeface="Arial"/>
              </a:rPr>
              <a:t>Manual de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12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4000" b="0" i="0" u="none" strike="noStrike" kern="1200" cap="none" spc="0" normalizeH="0" baseline="0" noProof="0" dirty="0">
                <a:ln>
                  <a:noFill/>
                </a:ln>
                <a:solidFill>
                  <a:srgbClr val="B6004C"/>
                </a:solidFill>
                <a:effectLst/>
                <a:uLnTx/>
                <a:uFillTx/>
                <a:latin typeface="Segoe UI"/>
                <a:ea typeface="+mn-ea"/>
                <a:cs typeface="+mn-cs"/>
                <a:sym typeface="Arial"/>
              </a:rPr>
              <a:t>Usuario</a:t>
            </a:r>
          </a:p>
        </p:txBody>
      </p:sp>
      <p:cxnSp>
        <p:nvCxnSpPr>
          <p:cNvPr id="2" name="Conector recto 1">
            <a:extLst>
              <a:ext uri="{FF2B5EF4-FFF2-40B4-BE49-F238E27FC236}">
                <a16:creationId xmlns:a16="http://schemas.microsoft.com/office/drawing/2014/main" id="{E4432E96-4D48-3443-721A-3107AF41086C}"/>
              </a:ext>
            </a:extLst>
          </p:cNvPr>
          <p:cNvCxnSpPr>
            <a:cxnSpLocks/>
          </p:cNvCxnSpPr>
          <p:nvPr/>
        </p:nvCxnSpPr>
        <p:spPr>
          <a:xfrm flipH="1">
            <a:off x="452208" y="3004100"/>
            <a:ext cx="2016672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ángulo 7">
            <a:extLst>
              <a:ext uri="{FF2B5EF4-FFF2-40B4-BE49-F238E27FC236}">
                <a16:creationId xmlns:a16="http://schemas.microsoft.com/office/drawing/2014/main" id="{106A8873-5918-47A7-B803-9B7D7D58D2DF}"/>
              </a:ext>
            </a:extLst>
          </p:cNvPr>
          <p:cNvSpPr/>
          <p:nvPr/>
        </p:nvSpPr>
        <p:spPr>
          <a:xfrm>
            <a:off x="387166" y="3163528"/>
            <a:ext cx="223651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4000" b="0" i="0" u="none" strike="noStrike" kern="0" cap="none" spc="0" normalizeH="0" baseline="0" noProof="0" dirty="0">
                <a:ln>
                  <a:noFill/>
                </a:ln>
                <a:solidFill>
                  <a:srgbClr val="4C0425"/>
                </a:solidFill>
                <a:effectLst/>
                <a:uLnTx/>
                <a:uFillTx/>
                <a:latin typeface="Segoe UI"/>
                <a:cs typeface="Arial"/>
                <a:sym typeface="Arial"/>
              </a:rPr>
              <a:t>SIPSA Precios — Pipeline semanal de precios mayoristas</a:t>
            </a:r>
            <a:endParaRPr kumimoji="0" lang="es-CO" sz="4000" b="0" i="0" u="none" strike="noStrike" kern="0" cap="none" spc="0" normalizeH="0" baseline="0" noProof="0" dirty="0">
              <a:ln>
                <a:noFill/>
              </a:ln>
              <a:solidFill>
                <a:srgbClr val="4C0425"/>
              </a:solidFill>
              <a:effectLst/>
              <a:uLnTx/>
              <a:uFillTx/>
              <a:latin typeface="Segoe UI"/>
              <a:cs typeface="Arial"/>
              <a:sym typeface="Arial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F0B1F7B-530C-4B29-8EB7-61B04A47A444}"/>
              </a:ext>
            </a:extLst>
          </p:cNvPr>
          <p:cNvSpPr txBox="1"/>
          <p:nvPr/>
        </p:nvSpPr>
        <p:spPr>
          <a:xfrm>
            <a:off x="387166" y="4452416"/>
            <a:ext cx="2818808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s-ES" sz="1400" b="1" kern="0" dirty="0">
                <a:solidFill>
                  <a:srgbClr val="70002D"/>
                </a:solidFill>
                <a:latin typeface="Segoe UI"/>
                <a:ea typeface="Roboto Medium" panose="02000000000000000000" pitchFamily="2" charset="0"/>
                <a:cs typeface="Arial"/>
                <a:sym typeface="Arial"/>
              </a:rPr>
              <a:t>Versión 1.1 · Octubre 2026</a:t>
            </a:r>
            <a:endParaRPr kumimoji="0" lang="es-CO" sz="1400" b="1" i="0" u="none" strike="noStrike" kern="0" cap="none" spc="0" normalizeH="0" baseline="0" noProof="0" dirty="0">
              <a:ln>
                <a:noFill/>
              </a:ln>
              <a:solidFill>
                <a:srgbClr val="70002D"/>
              </a:solidFill>
              <a:effectLst/>
              <a:uLnTx/>
              <a:uFillTx/>
              <a:latin typeface="Segoe UI"/>
              <a:ea typeface="Roboto Medium" panose="02000000000000000000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71296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A5C4071-D788-49F1-AF4E-5BAA6A45AA87}"/>
              </a:ext>
            </a:extLst>
          </p:cNvPr>
          <p:cNvSpPr txBox="1"/>
          <p:nvPr/>
        </p:nvSpPr>
        <p:spPr>
          <a:xfrm>
            <a:off x="549190" y="3028278"/>
            <a:ext cx="2180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4C04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Qué es y cómo funciona SIPSA Precios</a:t>
            </a:r>
          </a:p>
        </p:txBody>
      </p:sp>
      <p:sp>
        <p:nvSpPr>
          <p:cNvPr id="8" name="object 553">
            <a:extLst>
              <a:ext uri="{FF2B5EF4-FFF2-40B4-BE49-F238E27FC236}">
                <a16:creationId xmlns:a16="http://schemas.microsoft.com/office/drawing/2014/main" id="{49562539-4865-4C27-868E-6ECD8A153681}"/>
              </a:ext>
            </a:extLst>
          </p:cNvPr>
          <p:cNvSpPr txBox="1">
            <a:spLocks/>
          </p:cNvSpPr>
          <p:nvPr/>
        </p:nvSpPr>
        <p:spPr>
          <a:xfrm>
            <a:off x="620487" y="1548343"/>
            <a:ext cx="2884589" cy="915251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Introducción</a:t>
            </a:r>
          </a:p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general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CB2BF66-FD0F-4F9B-866E-3D793CC5000E}"/>
              </a:ext>
            </a:extLst>
          </p:cNvPr>
          <p:cNvCxnSpPr>
            <a:cxnSpLocks/>
          </p:cNvCxnSpPr>
          <p:nvPr/>
        </p:nvCxnSpPr>
        <p:spPr>
          <a:xfrm flipH="1">
            <a:off x="640080" y="2722122"/>
            <a:ext cx="2180758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5890E8E-0862-44E7-8BD8-4BBBCB673BFA}"/>
              </a:ext>
            </a:extLst>
          </p:cNvPr>
          <p:cNvSpPr txBox="1"/>
          <p:nvPr/>
        </p:nvSpPr>
        <p:spPr>
          <a:xfrm>
            <a:off x="549190" y="4363548"/>
            <a:ext cx="182484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s-ES" sz="1400" b="1" i="0" u="none" strike="noStrike" dirty="0">
                <a:solidFill>
                  <a:srgbClr val="B6004C"/>
                </a:solidFill>
                <a:effectLst/>
                <a:latin typeface="Segoe UI" panose="020B0502040204020203" pitchFamily="34" charset="0"/>
                <a:ea typeface="Roboto Medium" panose="02000000000000000000" pitchFamily="2" charset="0"/>
                <a:cs typeface="Segoe UI" panose="020B0502040204020203" pitchFamily="34" charset="0"/>
              </a:rPr>
              <a:t>Manual de usuario</a:t>
            </a:r>
            <a:endParaRPr lang="es-CO" sz="1400" b="1" dirty="0">
              <a:solidFill>
                <a:srgbClr val="B6004C"/>
              </a:solidFill>
              <a:latin typeface="Segoe UI" panose="020B0502040204020203" pitchFamily="34" charset="0"/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77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043BCE3-1FE4-6A5B-72DB-F1C6A978247C}"/>
              </a:ext>
            </a:extLst>
          </p:cNvPr>
          <p:cNvSpPr txBox="1"/>
          <p:nvPr/>
        </p:nvSpPr>
        <p:spPr>
          <a:xfrm>
            <a:off x="486605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Automatiza el boletín semanal de precios SIPSA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Reemplaza el proceso anterior en SAS y macros VBA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100% Python, sin licencias privativas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Construido sobre Kedro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Framework de pipelines de datos reproducibles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AFD9082-EB21-3F9C-5068-6E3B7DC7F776}"/>
              </a:ext>
            </a:extLst>
          </p:cNvPr>
          <p:cNvCxnSpPr>
            <a:cxnSpLocks/>
          </p:cNvCxnSpPr>
          <p:nvPr/>
        </p:nvCxnSpPr>
        <p:spPr>
          <a:xfrm rot="5400000" flipH="1">
            <a:off x="3176343" y="2874392"/>
            <a:ext cx="2782029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DD5C459E-E29C-0629-D6FC-6FC1A58D9B0D}"/>
              </a:ext>
            </a:extLst>
          </p:cNvPr>
          <p:cNvSpPr txBox="1"/>
          <p:nvPr/>
        </p:nvSpPr>
        <p:spPr>
          <a:xfrm>
            <a:off x="4978776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Entrada: un archivo Excel semanal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Salida: el boletín ya formateado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Excel listo para publicar, organizado en 8 cuadros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Dos formas de ejecutarlo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Desde la terminal o desde la aplicación web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B0C2F99-87C1-279E-AA9D-F904E2A15B38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INTRODUCCIÓN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¿Qué es SIPSA Precios?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Manual de usuario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6FC24B3-B9EC-B592-FF75-47F1E63ED8FE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63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A5C4071-D788-49F1-AF4E-5BAA6A45AA87}"/>
              </a:ext>
            </a:extLst>
          </p:cNvPr>
          <p:cNvSpPr txBox="1"/>
          <p:nvPr/>
        </p:nvSpPr>
        <p:spPr>
          <a:xfrm>
            <a:off x="549190" y="3028278"/>
            <a:ext cx="2180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4C04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Preparar el entorno antes de la primera ejecución</a:t>
            </a:r>
          </a:p>
        </p:txBody>
      </p:sp>
      <p:sp>
        <p:nvSpPr>
          <p:cNvPr id="8" name="object 553">
            <a:extLst>
              <a:ext uri="{FF2B5EF4-FFF2-40B4-BE49-F238E27FC236}">
                <a16:creationId xmlns:a16="http://schemas.microsoft.com/office/drawing/2014/main" id="{49562539-4865-4C27-868E-6ECD8A153681}"/>
              </a:ext>
            </a:extLst>
          </p:cNvPr>
          <p:cNvSpPr txBox="1">
            <a:spLocks/>
          </p:cNvSpPr>
          <p:nvPr/>
        </p:nvSpPr>
        <p:spPr>
          <a:xfrm>
            <a:off x="620487" y="1548343"/>
            <a:ext cx="2884589" cy="915251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Instalación</a:t>
            </a:r>
          </a:p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 requisitos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CB2BF66-FD0F-4F9B-866E-3D793CC5000E}"/>
              </a:ext>
            </a:extLst>
          </p:cNvPr>
          <p:cNvCxnSpPr>
            <a:cxnSpLocks/>
          </p:cNvCxnSpPr>
          <p:nvPr/>
        </p:nvCxnSpPr>
        <p:spPr>
          <a:xfrm flipH="1">
            <a:off x="640080" y="2722122"/>
            <a:ext cx="2180758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5890E8E-0862-44E7-8BD8-4BBBCB673BFA}"/>
              </a:ext>
            </a:extLst>
          </p:cNvPr>
          <p:cNvSpPr txBox="1"/>
          <p:nvPr/>
        </p:nvSpPr>
        <p:spPr>
          <a:xfrm>
            <a:off x="549190" y="4363548"/>
            <a:ext cx="182484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s-ES" sz="1400" b="1" i="0" u="none" strike="noStrike" dirty="0">
                <a:solidFill>
                  <a:srgbClr val="B6004C"/>
                </a:solidFill>
                <a:effectLst/>
                <a:latin typeface="Segoe UI" panose="020B0502040204020203" pitchFamily="34" charset="0"/>
                <a:ea typeface="Roboto Medium" panose="02000000000000000000" pitchFamily="2" charset="0"/>
                <a:cs typeface="Segoe UI" panose="020B0502040204020203" pitchFamily="34" charset="0"/>
              </a:rPr>
              <a:t>Manual de usuario</a:t>
            </a:r>
            <a:endParaRPr lang="es-CO" sz="1400" b="1" dirty="0">
              <a:solidFill>
                <a:srgbClr val="B6004C"/>
              </a:solidFill>
              <a:latin typeface="Segoe UI" panose="020B0502040204020203" pitchFamily="34" charset="0"/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77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CE270-B20A-E7AD-DB6C-602CAF19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E0A6668-95D0-7395-8991-BE4A793C8E22}"/>
              </a:ext>
            </a:extLst>
          </p:cNvPr>
          <p:cNvSpPr/>
          <p:nvPr/>
        </p:nvSpPr>
        <p:spPr>
          <a:xfrm>
            <a:off x="846455" y="1847989"/>
            <a:ext cx="1651000" cy="2920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6223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200" b="1" dirty="0">
                <a:solidFill>
                  <a:srgbClr val="B6004C"/>
                </a:solidFill>
                <a:cs typeface="Arial"/>
              </a:rPr>
              <a:t>No necesitas saber programar</a:t>
            </a:r>
            <a:r>
              <a:rPr lang="es-MX" sz="1200" dirty="0">
                <a:solidFill>
                  <a:srgbClr val="B6004C"/>
                </a:solidFill>
                <a:cs typeface="Arial"/>
              </a:rPr>
              <a:t> Solo debes copiar y pegar los comandos de este manual, exactamente como aparecen.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sp>
        <p:nvSpPr>
          <p:cNvPr id="4" name="Rectángulo: esquinas diagonales redondeadas 3">
            <a:extLst>
              <a:ext uri="{FF2B5EF4-FFF2-40B4-BE49-F238E27FC236}">
                <a16:creationId xmlns:a16="http://schemas.microsoft.com/office/drawing/2014/main" id="{A62B4C83-DBB7-B520-AA71-001681A3EB6A}"/>
              </a:ext>
            </a:extLst>
          </p:cNvPr>
          <p:cNvSpPr/>
          <p:nvPr/>
        </p:nvSpPr>
        <p:spPr>
          <a:xfrm>
            <a:off x="541714" y="1457325"/>
            <a:ext cx="2342557" cy="3329938"/>
          </a:xfrm>
          <a:prstGeom prst="round2DiagRect">
            <a:avLst/>
          </a:prstGeom>
          <a:noFill/>
          <a:ln>
            <a:solidFill>
              <a:srgbClr val="B60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: esquinas diagonales redondeadas 6">
            <a:extLst>
              <a:ext uri="{FF2B5EF4-FFF2-40B4-BE49-F238E27FC236}">
                <a16:creationId xmlns:a16="http://schemas.microsoft.com/office/drawing/2014/main" id="{F509FA53-9EA8-4666-71AE-EA257A2E065A}"/>
              </a:ext>
            </a:extLst>
          </p:cNvPr>
          <p:cNvSpPr/>
          <p:nvPr/>
        </p:nvSpPr>
        <p:spPr>
          <a:xfrm>
            <a:off x="3452503" y="1457325"/>
            <a:ext cx="2342557" cy="3329938"/>
          </a:xfrm>
          <a:prstGeom prst="round2DiagRect">
            <a:avLst/>
          </a:prstGeom>
          <a:noFill/>
          <a:ln>
            <a:solidFill>
              <a:srgbClr val="B60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: esquinas diagonales redondeadas 7">
            <a:extLst>
              <a:ext uri="{FF2B5EF4-FFF2-40B4-BE49-F238E27FC236}">
                <a16:creationId xmlns:a16="http://schemas.microsoft.com/office/drawing/2014/main" id="{4876C1F6-8037-711C-BCB2-C217B26C3FD9}"/>
              </a:ext>
            </a:extLst>
          </p:cNvPr>
          <p:cNvSpPr/>
          <p:nvPr/>
        </p:nvSpPr>
        <p:spPr>
          <a:xfrm>
            <a:off x="6363293" y="1457325"/>
            <a:ext cx="2342557" cy="3329938"/>
          </a:xfrm>
          <a:prstGeom prst="round2DiagRect">
            <a:avLst/>
          </a:prstGeom>
          <a:noFill/>
          <a:ln>
            <a:solidFill>
              <a:srgbClr val="B60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D75F35C-D1A7-CEC8-7FBF-F356FCFDFA69}"/>
              </a:ext>
            </a:extLst>
          </p:cNvPr>
          <p:cNvSpPr/>
          <p:nvPr/>
        </p:nvSpPr>
        <p:spPr>
          <a:xfrm>
            <a:off x="3828252" y="1847989"/>
            <a:ext cx="1651000" cy="2920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6223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Dos cosas por instalar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Python 3.9 o superior, y las dependencias del proyecto (un solo comando).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E7B6D22-0367-3D59-C9B7-E9579B5FA7B5}"/>
              </a:ext>
            </a:extLst>
          </p:cNvPr>
          <p:cNvSpPr/>
          <p:nvPr/>
        </p:nvSpPr>
        <p:spPr>
          <a:xfrm>
            <a:off x="6750050" y="1847989"/>
            <a:ext cx="1651000" cy="2920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6223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Todo se hace una sola vez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Una vez instalado, no tienes que repetir estos pasos cada semana.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D3C8E3EC-678B-AE92-DC52-36C80AB8CA4B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INSTALACIÓN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Antes de comenzar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Manual de usuario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25DC19C7-277C-F9B7-727C-1BC05CBE2F88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28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043BCE3-1FE4-6A5B-72DB-F1C6A978247C}"/>
              </a:ext>
            </a:extLst>
          </p:cNvPr>
          <p:cNvSpPr txBox="1"/>
          <p:nvPr/>
        </p:nvSpPr>
        <p:spPr>
          <a:xfrm>
            <a:off x="486605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La terminal es una ventana de texto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Ahí se escriben instrucciones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Escribes un comando, presionas Enter, y el resultado aparece debajo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En Windows se llama PowerShell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Ya viene instalado; no hay que descargar nada adicional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AFD9082-EB21-3F9C-5068-6E3B7DC7F776}"/>
              </a:ext>
            </a:extLst>
          </p:cNvPr>
          <p:cNvCxnSpPr>
            <a:cxnSpLocks/>
          </p:cNvCxnSpPr>
          <p:nvPr/>
        </p:nvCxnSpPr>
        <p:spPr>
          <a:xfrm rot="5400000" flipH="1">
            <a:off x="3176343" y="2874392"/>
            <a:ext cx="2782029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DD5C459E-E29C-0629-D6FC-6FC1A58D9B0D}"/>
              </a:ext>
            </a:extLst>
          </p:cNvPr>
          <p:cNvSpPr txBox="1"/>
          <p:nvPr/>
        </p:nvSpPr>
        <p:spPr>
          <a:xfrm>
            <a:off x="4978776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Cómo abrirla en la carpeta del proyecto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Entra a la carpeta sipsa en el Explorador de archivos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Mantén presionada la tecla Shift y haz clic derecho dentro de la carpeta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Elige “Abrir ventana de PowerShell aquí”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En Windows 11 puede decir “Abrir en Terminal”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B0C2F99-87C1-279E-AA9D-F904E2A15B38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INSTALACIÓN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¿Qué es la terminal y cómo la abro?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Manual de usuario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6FC24B3-B9EC-B592-FF75-47F1E63ED8FE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63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043BCE3-1FE4-6A5B-72DB-F1C6A978247C}"/>
              </a:ext>
            </a:extLst>
          </p:cNvPr>
          <p:cNvSpPr txBox="1"/>
          <p:nvPr/>
        </p:nvSpPr>
        <p:spPr>
          <a:xfrm>
            <a:off x="486605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Escribe: python --version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Si aparece un número de versión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Por ejemplo “Python 3.13.9”: ya tienes Python, continúa al siguiente paso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Si aparece un error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“python no se reconoce como un comando” significa que falta instalarlo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AFD9082-EB21-3F9C-5068-6E3B7DC7F776}"/>
              </a:ext>
            </a:extLst>
          </p:cNvPr>
          <p:cNvCxnSpPr>
            <a:cxnSpLocks/>
          </p:cNvCxnSpPr>
          <p:nvPr/>
        </p:nvCxnSpPr>
        <p:spPr>
          <a:xfrm rot="5400000" flipH="1">
            <a:off x="3176343" y="2874392"/>
            <a:ext cx="2782029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DD5C459E-E29C-0629-D6FC-6FC1A58D9B0D}"/>
              </a:ext>
            </a:extLst>
          </p:cNvPr>
          <p:cNvSpPr txBox="1"/>
          <p:nvPr/>
        </p:nvSpPr>
        <p:spPr>
          <a:xfrm>
            <a:off x="4978776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Cómo instalar Python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Descárgalo desde python.org/downloads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Botón amarillo grande; elige la versión para Windows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Marca la casilla “Add python.exe to PATH”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Aparece en la primera pantalla del instalador; es obligatorio marcarla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B0C2F99-87C1-279E-AA9D-F904E2A15B38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INSTALACIÓN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Verificar o instalar Python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Manual de usuario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6FC24B3-B9EC-B592-FF75-47F1E63ED8FE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63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043BCE3-1FE4-6A5B-72DB-F1C6A978247C}"/>
              </a:ext>
            </a:extLst>
          </p:cNvPr>
          <p:cNvSpPr txBox="1"/>
          <p:nvPr/>
        </p:nvSpPr>
        <p:spPr>
          <a:xfrm>
            <a:off x="486605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1. Clonar o copiar el proyecto en tu computador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2. Crear el entorno virtual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Comando: python -m venv .venv — crea una copia aislada de Python solo para este proyecto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3. Activarlo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Comando: .venv\Scripts\activate — verás (.venv) al inicio de la línea cuando esté activo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AFD9082-EB21-3F9C-5068-6E3B7DC7F776}"/>
              </a:ext>
            </a:extLst>
          </p:cNvPr>
          <p:cNvCxnSpPr>
            <a:cxnSpLocks/>
          </p:cNvCxnSpPr>
          <p:nvPr/>
        </p:nvCxnSpPr>
        <p:spPr>
          <a:xfrm rot="5400000" flipH="1">
            <a:off x="3176343" y="2874392"/>
            <a:ext cx="2782029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DD5C459E-E29C-0629-D6FC-6FC1A58D9B0D}"/>
              </a:ext>
            </a:extLst>
          </p:cNvPr>
          <p:cNvSpPr txBox="1"/>
          <p:nvPr/>
        </p:nvSpPr>
        <p:spPr>
          <a:xfrm>
            <a:off x="4978776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4. Instalar las dependencias: pip install -e .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5. Configurar el archivo .env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Comando: copy .env.example .env — luego ábrelo con el Bloc de notas y completa los datos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6. Verificar que todo quedó bien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Comando: kedro info — si no aparece ningún error, la instalación fue exitosa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B0C2F99-87C1-279E-AA9D-F904E2A15B38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INSTALACIÓN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Pasos de instalación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Manual de usuario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6FC24B3-B9EC-B592-FF75-47F1E63ED8FE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63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043BCE3-1FE4-6A5B-72DB-F1C6A978247C}"/>
              </a:ext>
            </a:extLst>
          </p:cNvPr>
          <p:cNvSpPr txBox="1"/>
          <p:nvPr/>
        </p:nvSpPr>
        <p:spPr>
          <a:xfrm>
            <a:off x="486605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Error: “la ejecución de scripts está deshabilitada”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Es una restricción de seguridad de Windows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PowerShell bloquea scripts por defecto en algunos computadores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Solución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Ejecuta: Set-ExecutionPolicy -Scope CurrentUser RemoteSigned y confirma con “S”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AFD9082-EB21-3F9C-5068-6E3B7DC7F776}"/>
              </a:ext>
            </a:extLst>
          </p:cNvPr>
          <p:cNvCxnSpPr>
            <a:cxnSpLocks/>
          </p:cNvCxnSpPr>
          <p:nvPr/>
        </p:nvCxnSpPr>
        <p:spPr>
          <a:xfrm rot="5400000" flipH="1">
            <a:off x="3176343" y="2874392"/>
            <a:ext cx="2782029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DD5C459E-E29C-0629-D6FC-6FC1A58D9B0D}"/>
              </a:ext>
            </a:extLst>
          </p:cNvPr>
          <p:cNvSpPr txBox="1"/>
          <p:nvPr/>
        </p:nvSpPr>
        <p:spPr>
          <a:xfrm>
            <a:off x="4978776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Después de aplicar la solución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Cierra la terminal y ábrela de nuevo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Vuelve a entrar a la carpeta del proyecto con Shift + clic derecho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Repite el paso 3 (activar el entorno)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Ya debería funcionar sin mostrar el error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B0C2F99-87C1-279E-AA9D-F904E2A15B38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INSTALACIÓN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Si algo falla al activar el entorno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Manual de usuario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6FC24B3-B9EC-B592-FF75-47F1E63ED8FE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63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A5C4071-D788-49F1-AF4E-5BAA6A45AA87}"/>
              </a:ext>
            </a:extLst>
          </p:cNvPr>
          <p:cNvSpPr txBox="1"/>
          <p:nvPr/>
        </p:nvSpPr>
        <p:spPr>
          <a:xfrm>
            <a:off x="549190" y="3028278"/>
            <a:ext cx="2180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4C04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Variables que cambian cada semana en el archivo .env</a:t>
            </a:r>
          </a:p>
        </p:txBody>
      </p:sp>
      <p:sp>
        <p:nvSpPr>
          <p:cNvPr id="8" name="object 553">
            <a:extLst>
              <a:ext uri="{FF2B5EF4-FFF2-40B4-BE49-F238E27FC236}">
                <a16:creationId xmlns:a16="http://schemas.microsoft.com/office/drawing/2014/main" id="{49562539-4865-4C27-868E-6ECD8A153681}"/>
              </a:ext>
            </a:extLst>
          </p:cNvPr>
          <p:cNvSpPr txBox="1">
            <a:spLocks/>
          </p:cNvSpPr>
          <p:nvPr/>
        </p:nvSpPr>
        <p:spPr>
          <a:xfrm>
            <a:off x="620487" y="1548343"/>
            <a:ext cx="2884589" cy="915251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Configuración</a:t>
            </a:r>
          </a:p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semanal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CB2BF66-FD0F-4F9B-866E-3D793CC5000E}"/>
              </a:ext>
            </a:extLst>
          </p:cNvPr>
          <p:cNvCxnSpPr>
            <a:cxnSpLocks/>
          </p:cNvCxnSpPr>
          <p:nvPr/>
        </p:nvCxnSpPr>
        <p:spPr>
          <a:xfrm flipH="1">
            <a:off x="640080" y="2722122"/>
            <a:ext cx="2180758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5890E8E-0862-44E7-8BD8-4BBBCB673BFA}"/>
              </a:ext>
            </a:extLst>
          </p:cNvPr>
          <p:cNvSpPr txBox="1"/>
          <p:nvPr/>
        </p:nvSpPr>
        <p:spPr>
          <a:xfrm>
            <a:off x="549190" y="4363548"/>
            <a:ext cx="182484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s-ES" sz="1400" b="1" i="0" u="none" strike="noStrike" dirty="0">
                <a:solidFill>
                  <a:srgbClr val="B6004C"/>
                </a:solidFill>
                <a:effectLst/>
                <a:latin typeface="Segoe UI" panose="020B0502040204020203" pitchFamily="34" charset="0"/>
                <a:ea typeface="Roboto Medium" panose="02000000000000000000" pitchFamily="2" charset="0"/>
                <a:cs typeface="Segoe UI" panose="020B0502040204020203" pitchFamily="34" charset="0"/>
              </a:rPr>
              <a:t>Manual de usuario</a:t>
            </a:r>
            <a:endParaRPr lang="es-CO" sz="1400" b="1" dirty="0">
              <a:solidFill>
                <a:srgbClr val="B6004C"/>
              </a:solidFill>
              <a:latin typeface="Segoe UI" panose="020B0502040204020203" pitchFamily="34" charset="0"/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77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043BCE3-1FE4-6A5B-72DB-F1C6A978247C}"/>
              </a:ext>
            </a:extLst>
          </p:cNvPr>
          <p:cNvSpPr txBox="1"/>
          <p:nvPr/>
        </p:nvSpPr>
        <p:spPr>
          <a:xfrm>
            <a:off x="486605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El archivo .env concentra los valores que cambian cada semana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SIPSA_FECHA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Fecha del boletín, formato DDMMMAAAA (ej. 02OCT2026)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SIPSA_ARCHIVO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Nombre exacto del Excel en data/01_raw/, byte a byte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AFD9082-EB21-3F9C-5068-6E3B7DC7F776}"/>
              </a:ext>
            </a:extLst>
          </p:cNvPr>
          <p:cNvCxnSpPr>
            <a:cxnSpLocks/>
          </p:cNvCxnSpPr>
          <p:nvPr/>
        </p:nvCxnSpPr>
        <p:spPr>
          <a:xfrm rot="5400000" flipH="1">
            <a:off x="3176343" y="2874392"/>
            <a:ext cx="2782029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DD5C459E-E29C-0629-D6FC-6FC1A58D9B0D}"/>
              </a:ext>
            </a:extLst>
          </p:cNvPr>
          <p:cNvSpPr txBox="1"/>
          <p:nvPr/>
        </p:nvSpPr>
        <p:spPr>
          <a:xfrm>
            <a:off x="4978776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conf/base/parameters.yml lee estas variables automáticamente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SIPSA_USER / SIPSA_PASS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Credenciales de la interfaz web. Cambiar antes de exponer el servidor en red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Catálogos de mappings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productos, fuentes, grupos y cuadros. Se actualizan solo si cambia el universo de productos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B0C2F99-87C1-279E-AA9D-F904E2A15B38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CONFIGURACIÓN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Variables del archivo .env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Manual de usuario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6FC24B3-B9EC-B592-FF75-47F1E63ED8FE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63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A5C4071-D788-49F1-AF4E-5BAA6A45AA87}"/>
              </a:ext>
            </a:extLst>
          </p:cNvPr>
          <p:cNvSpPr txBox="1"/>
          <p:nvPr/>
        </p:nvSpPr>
        <p:spPr>
          <a:xfrm>
            <a:off x="549190" y="3028278"/>
            <a:ext cx="2180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4C04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Correr el pipeline con kedro run</a:t>
            </a:r>
          </a:p>
        </p:txBody>
      </p:sp>
      <p:sp>
        <p:nvSpPr>
          <p:cNvPr id="8" name="object 553">
            <a:extLst>
              <a:ext uri="{FF2B5EF4-FFF2-40B4-BE49-F238E27FC236}">
                <a16:creationId xmlns:a16="http://schemas.microsoft.com/office/drawing/2014/main" id="{49562539-4865-4C27-868E-6ECD8A153681}"/>
              </a:ext>
            </a:extLst>
          </p:cNvPr>
          <p:cNvSpPr txBox="1">
            <a:spLocks/>
          </p:cNvSpPr>
          <p:nvPr/>
        </p:nvSpPr>
        <p:spPr>
          <a:xfrm>
            <a:off x="620487" y="1548343"/>
            <a:ext cx="2884589" cy="915251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Ejecución</a:t>
            </a:r>
          </a:p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desde terminal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CB2BF66-FD0F-4F9B-866E-3D793CC5000E}"/>
              </a:ext>
            </a:extLst>
          </p:cNvPr>
          <p:cNvCxnSpPr>
            <a:cxnSpLocks/>
          </p:cNvCxnSpPr>
          <p:nvPr/>
        </p:nvCxnSpPr>
        <p:spPr>
          <a:xfrm flipH="1">
            <a:off x="640080" y="2722122"/>
            <a:ext cx="2180758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5890E8E-0862-44E7-8BD8-4BBBCB673BFA}"/>
              </a:ext>
            </a:extLst>
          </p:cNvPr>
          <p:cNvSpPr txBox="1"/>
          <p:nvPr/>
        </p:nvSpPr>
        <p:spPr>
          <a:xfrm>
            <a:off x="549190" y="4363548"/>
            <a:ext cx="182484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s-ES" sz="1400" b="1" i="0" u="none" strike="noStrike" dirty="0">
                <a:solidFill>
                  <a:srgbClr val="B6004C"/>
                </a:solidFill>
                <a:effectLst/>
                <a:latin typeface="Segoe UI" panose="020B0502040204020203" pitchFamily="34" charset="0"/>
                <a:ea typeface="Roboto Medium" panose="02000000000000000000" pitchFamily="2" charset="0"/>
                <a:cs typeface="Segoe UI" panose="020B0502040204020203" pitchFamily="34" charset="0"/>
              </a:rPr>
              <a:t>Manual de usuario</a:t>
            </a:r>
            <a:endParaRPr lang="es-CO" sz="1400" b="1" dirty="0">
              <a:solidFill>
                <a:srgbClr val="B6004C"/>
              </a:solidFill>
              <a:latin typeface="Segoe UI" panose="020B0502040204020203" pitchFamily="34" charset="0"/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77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CE270-B20A-E7AD-DB6C-602CAF19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E0A6668-95D0-7395-8991-BE4A793C8E22}"/>
              </a:ext>
            </a:extLst>
          </p:cNvPr>
          <p:cNvSpPr/>
          <p:nvPr/>
        </p:nvSpPr>
        <p:spPr>
          <a:xfrm>
            <a:off x="846455" y="1847989"/>
            <a:ext cx="1651000" cy="2920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6223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200" b="1" dirty="0">
                <a:solidFill>
                  <a:srgbClr val="B6004C"/>
                </a:solidFill>
                <a:cs typeface="Arial"/>
              </a:rPr>
              <a:t>Copiar el Excel semanal</a:t>
            </a:r>
            <a:r>
              <a:rPr lang="es-MX" sz="1200" dirty="0">
                <a:solidFill>
                  <a:srgbClr val="B6004C"/>
                </a:solidFill>
                <a:cs typeface="Arial"/>
              </a:rPr>
              <a:t> Pegarlo en data/01_raw/ tal como llega, sin renombrar.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sp>
        <p:nvSpPr>
          <p:cNvPr id="4" name="Rectángulo: esquinas diagonales redondeadas 3">
            <a:extLst>
              <a:ext uri="{FF2B5EF4-FFF2-40B4-BE49-F238E27FC236}">
                <a16:creationId xmlns:a16="http://schemas.microsoft.com/office/drawing/2014/main" id="{A62B4C83-DBB7-B520-AA71-001681A3EB6A}"/>
              </a:ext>
            </a:extLst>
          </p:cNvPr>
          <p:cNvSpPr/>
          <p:nvPr/>
        </p:nvSpPr>
        <p:spPr>
          <a:xfrm>
            <a:off x="541714" y="1457325"/>
            <a:ext cx="2342557" cy="3329938"/>
          </a:xfrm>
          <a:prstGeom prst="round2DiagRect">
            <a:avLst/>
          </a:prstGeom>
          <a:noFill/>
          <a:ln>
            <a:solidFill>
              <a:srgbClr val="B60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: esquinas diagonales redondeadas 6">
            <a:extLst>
              <a:ext uri="{FF2B5EF4-FFF2-40B4-BE49-F238E27FC236}">
                <a16:creationId xmlns:a16="http://schemas.microsoft.com/office/drawing/2014/main" id="{F509FA53-9EA8-4666-71AE-EA257A2E065A}"/>
              </a:ext>
            </a:extLst>
          </p:cNvPr>
          <p:cNvSpPr/>
          <p:nvPr/>
        </p:nvSpPr>
        <p:spPr>
          <a:xfrm>
            <a:off x="3452503" y="1457325"/>
            <a:ext cx="2342557" cy="3329938"/>
          </a:xfrm>
          <a:prstGeom prst="round2DiagRect">
            <a:avLst/>
          </a:prstGeom>
          <a:noFill/>
          <a:ln>
            <a:solidFill>
              <a:srgbClr val="B60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: esquinas diagonales redondeadas 7">
            <a:extLst>
              <a:ext uri="{FF2B5EF4-FFF2-40B4-BE49-F238E27FC236}">
                <a16:creationId xmlns:a16="http://schemas.microsoft.com/office/drawing/2014/main" id="{4876C1F6-8037-711C-BCB2-C217B26C3FD9}"/>
              </a:ext>
            </a:extLst>
          </p:cNvPr>
          <p:cNvSpPr/>
          <p:nvPr/>
        </p:nvSpPr>
        <p:spPr>
          <a:xfrm>
            <a:off x="6363293" y="1457325"/>
            <a:ext cx="2342557" cy="3329938"/>
          </a:xfrm>
          <a:prstGeom prst="round2DiagRect">
            <a:avLst/>
          </a:prstGeom>
          <a:noFill/>
          <a:ln>
            <a:solidFill>
              <a:srgbClr val="B60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D75F35C-D1A7-CEC8-7FBF-F356FCFDFA69}"/>
              </a:ext>
            </a:extLst>
          </p:cNvPr>
          <p:cNvSpPr/>
          <p:nvPr/>
        </p:nvSpPr>
        <p:spPr>
          <a:xfrm>
            <a:off x="3828252" y="1847989"/>
            <a:ext cx="1651000" cy="2920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6223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Editar el archivo .env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Actualizar SIPSA_FECHA y SIPSA_ARCHIVO con los valores de la semana.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E7B6D22-0367-3D59-C9B7-E9579B5FA7B5}"/>
              </a:ext>
            </a:extLst>
          </p:cNvPr>
          <p:cNvSpPr/>
          <p:nvPr/>
        </p:nvSpPr>
        <p:spPr>
          <a:xfrm>
            <a:off x="6750050" y="1847989"/>
            <a:ext cx="1651000" cy="2920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6223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Activar el entorno virtual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Cada vez que abras una terminal nueva: .venv\Scripts\activate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D3C8E3EC-678B-AE92-DC52-36C80AB8CA4B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TERMINAL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Antes de ejecutar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Manual de usuario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25DC19C7-277C-F9B7-727C-1BC05CBE2F88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28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043BCE3-1FE4-6A5B-72DB-F1C6A978247C}"/>
              </a:ext>
            </a:extLst>
          </p:cNvPr>
          <p:cNvSpPr txBox="1"/>
          <p:nvPr/>
        </p:nvSpPr>
        <p:spPr>
          <a:xfrm>
            <a:off x="486605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kedro run ejecuta el pipeline completo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Cuatro etapas encadenadas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Ingesta, transformación, agregación y generación del Excel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Duración típica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Entre 5 y 6 segundos por ejecución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AFD9082-EB21-3F9C-5068-6E3B7DC7F776}"/>
              </a:ext>
            </a:extLst>
          </p:cNvPr>
          <p:cNvCxnSpPr>
            <a:cxnSpLocks/>
          </p:cNvCxnSpPr>
          <p:nvPr/>
        </p:nvCxnSpPr>
        <p:spPr>
          <a:xfrm rot="5400000" flipH="1">
            <a:off x="3176343" y="2874392"/>
            <a:ext cx="2782029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DD5C459E-E29C-0629-D6FC-6FC1A58D9B0D}"/>
              </a:ext>
            </a:extLst>
          </p:cNvPr>
          <p:cNvSpPr txBox="1"/>
          <p:nvPr/>
        </p:nvSpPr>
        <p:spPr>
          <a:xfrm>
            <a:off x="4978776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El resultado se guarda automáticamente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Ubicación del archivo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data/08_reporting/Boletin_{fecha}_python.xlsx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Para la siguiente semana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Copiar el nuevo Excel y actualizar SIPSA_FECHA y SIPSA_ARCHIVO en .env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B0C2F99-87C1-279E-AA9D-F904E2A15B38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TERMINAL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Comando y resultado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Manual de usuario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6FC24B3-B9EC-B592-FF75-47F1E63ED8FE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63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09743-38F2-C6E9-ED9B-4C63003A0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C59F6B02-870F-D509-54A7-45590C82E42E}"/>
              </a:ext>
            </a:extLst>
          </p:cNvPr>
          <p:cNvSpPr txBox="1"/>
          <p:nvPr/>
        </p:nvSpPr>
        <p:spPr>
          <a:xfrm>
            <a:off x="422238" y="1840855"/>
            <a:ext cx="3368712" cy="228908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Qué debes ver en la consola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1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El log muestra cada nodo completado (Running node / Completed node) para las 4 etapas del pipeline.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100" b="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La última línea confirma “Pipeline execution completed successfully” junto con el nombre del Excel generado.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B5A627A7-A7D0-70FD-09C8-6B33FB3C02BE}"/>
              </a:ext>
            </a:extLst>
          </p:cNvPr>
          <p:cNvSpPr txBox="1"/>
          <p:nvPr/>
        </p:nvSpPr>
        <p:spPr>
          <a:xfrm>
            <a:off x="422238" y="1407551"/>
            <a:ext cx="1328408" cy="2354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sz="1200" dirty="0" err="1">
                <a:solidFill>
                  <a:srgbClr val="B6004C"/>
                </a:solidFill>
                <a:latin typeface="+mj-lt"/>
                <a:cs typeface="Arial"/>
              </a:rPr>
              <a:t>kedro run</a:t>
            </a:r>
            <a:r>
              <a:rPr lang="es-ES" sz="1200" dirty="0">
                <a:solidFill>
                  <a:srgbClr val="B6004C"/>
                </a:solidFill>
                <a:latin typeface="+mj-lt"/>
                <a:cs typeface="Arial"/>
              </a:rPr>
              <a:t/>
            </a:r>
            <a:r>
              <a:rPr lang="es-ES" sz="1200" dirty="0" err="1">
                <a:solidFill>
                  <a:srgbClr val="B6004C"/>
                </a:solidFill>
                <a:latin typeface="+mj-lt"/>
                <a:cs typeface="Arial"/>
              </a:rPr>
              <a:t/>
            </a:r>
            <a:endParaRPr lang="es-ES" sz="1200" dirty="0">
              <a:solidFill>
                <a:srgbClr val="B6004C"/>
              </a:solidFill>
              <a:latin typeface="+mj-lt"/>
              <a:cs typeface="Arial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75144A3C-3123-08F0-9CB0-CC55F02BAAE7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TERMINAL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Captura: ejecución exitosa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Manual de usuario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DAED45DE-7BFF-ADDD-BCFF-F7D6038D521E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2D9B9C43-FB85-474A-B274-DB23B49936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26727" y="1525274"/>
            <a:ext cx="4317274" cy="283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75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A5C4071-D788-49F1-AF4E-5BAA6A45AA87}"/>
              </a:ext>
            </a:extLst>
          </p:cNvPr>
          <p:cNvSpPr txBox="1"/>
          <p:nvPr/>
        </p:nvSpPr>
        <p:spPr>
          <a:xfrm>
            <a:off x="549190" y="3028278"/>
            <a:ext cx="2180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4C04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Interfaz gráfica para cargar el Excel y ejecutar el pipeline</a:t>
            </a:r>
          </a:p>
        </p:txBody>
      </p:sp>
      <p:sp>
        <p:nvSpPr>
          <p:cNvPr id="8" name="object 553">
            <a:extLst>
              <a:ext uri="{FF2B5EF4-FFF2-40B4-BE49-F238E27FC236}">
                <a16:creationId xmlns:a16="http://schemas.microsoft.com/office/drawing/2014/main" id="{49562539-4865-4C27-868E-6ECD8A153681}"/>
              </a:ext>
            </a:extLst>
          </p:cNvPr>
          <p:cNvSpPr txBox="1">
            <a:spLocks/>
          </p:cNvSpPr>
          <p:nvPr/>
        </p:nvSpPr>
        <p:spPr>
          <a:xfrm>
            <a:off x="620487" y="1548343"/>
            <a:ext cx="2884589" cy="915251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Aplicación</a:t>
            </a:r>
          </a:p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web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CB2BF66-FD0F-4F9B-866E-3D793CC5000E}"/>
              </a:ext>
            </a:extLst>
          </p:cNvPr>
          <p:cNvCxnSpPr>
            <a:cxnSpLocks/>
          </p:cNvCxnSpPr>
          <p:nvPr/>
        </p:nvCxnSpPr>
        <p:spPr>
          <a:xfrm flipH="1">
            <a:off x="640080" y="2722122"/>
            <a:ext cx="2180758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5890E8E-0862-44E7-8BD8-4BBBCB673BFA}"/>
              </a:ext>
            </a:extLst>
          </p:cNvPr>
          <p:cNvSpPr txBox="1"/>
          <p:nvPr/>
        </p:nvSpPr>
        <p:spPr>
          <a:xfrm>
            <a:off x="549190" y="4363548"/>
            <a:ext cx="182484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s-ES" sz="1400" b="1" i="0" u="none" strike="noStrike" dirty="0">
                <a:solidFill>
                  <a:srgbClr val="B6004C"/>
                </a:solidFill>
                <a:effectLst/>
                <a:latin typeface="Segoe UI" panose="020B0502040204020203" pitchFamily="34" charset="0"/>
                <a:ea typeface="Roboto Medium" panose="02000000000000000000" pitchFamily="2" charset="0"/>
                <a:cs typeface="Segoe UI" panose="020B0502040204020203" pitchFamily="34" charset="0"/>
              </a:rPr>
              <a:t>Manual de usuario</a:t>
            </a:r>
            <a:endParaRPr lang="es-CO" sz="1400" b="1" dirty="0">
              <a:solidFill>
                <a:srgbClr val="B6004C"/>
              </a:solidFill>
              <a:latin typeface="Segoe UI" panose="020B0502040204020203" pitchFamily="34" charset="0"/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77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CE270-B20A-E7AD-DB6C-602CAF196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E0A6668-95D0-7395-8991-BE4A793C8E22}"/>
              </a:ext>
            </a:extLst>
          </p:cNvPr>
          <p:cNvSpPr/>
          <p:nvPr/>
        </p:nvSpPr>
        <p:spPr>
          <a:xfrm>
            <a:off x="846455" y="1847989"/>
            <a:ext cx="1651000" cy="2920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6223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200" b="1" dirty="0">
                <a:solidFill>
                  <a:srgbClr val="B6004C"/>
                </a:solidFill>
                <a:cs typeface="Arial"/>
              </a:rPr>
              <a:t>Instalar dependencias</a:t>
            </a:r>
            <a:r>
              <a:rPr lang="es-MX" sz="1200" dirty="0">
                <a:solidFill>
                  <a:srgbClr val="B6004C"/>
                </a:solidFill>
                <a:cs typeface="Arial"/>
              </a:rPr>
              <a:t> pip install -e . dentro del entorno virtual del proyecto.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sp>
        <p:nvSpPr>
          <p:cNvPr id="4" name="Rectángulo: esquinas diagonales redondeadas 3">
            <a:extLst>
              <a:ext uri="{FF2B5EF4-FFF2-40B4-BE49-F238E27FC236}">
                <a16:creationId xmlns:a16="http://schemas.microsoft.com/office/drawing/2014/main" id="{A62B4C83-DBB7-B520-AA71-001681A3EB6A}"/>
              </a:ext>
            </a:extLst>
          </p:cNvPr>
          <p:cNvSpPr/>
          <p:nvPr/>
        </p:nvSpPr>
        <p:spPr>
          <a:xfrm>
            <a:off x="541714" y="1457325"/>
            <a:ext cx="2342557" cy="3329938"/>
          </a:xfrm>
          <a:prstGeom prst="round2DiagRect">
            <a:avLst/>
          </a:prstGeom>
          <a:noFill/>
          <a:ln>
            <a:solidFill>
              <a:srgbClr val="B60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7" name="Rectángulo: esquinas diagonales redondeadas 6">
            <a:extLst>
              <a:ext uri="{FF2B5EF4-FFF2-40B4-BE49-F238E27FC236}">
                <a16:creationId xmlns:a16="http://schemas.microsoft.com/office/drawing/2014/main" id="{F509FA53-9EA8-4666-71AE-EA257A2E065A}"/>
              </a:ext>
            </a:extLst>
          </p:cNvPr>
          <p:cNvSpPr/>
          <p:nvPr/>
        </p:nvSpPr>
        <p:spPr>
          <a:xfrm>
            <a:off x="3452503" y="1457325"/>
            <a:ext cx="2342557" cy="3329938"/>
          </a:xfrm>
          <a:prstGeom prst="round2DiagRect">
            <a:avLst/>
          </a:prstGeom>
          <a:noFill/>
          <a:ln>
            <a:solidFill>
              <a:srgbClr val="B60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Rectángulo: esquinas diagonales redondeadas 7">
            <a:extLst>
              <a:ext uri="{FF2B5EF4-FFF2-40B4-BE49-F238E27FC236}">
                <a16:creationId xmlns:a16="http://schemas.microsoft.com/office/drawing/2014/main" id="{4876C1F6-8037-711C-BCB2-C217B26C3FD9}"/>
              </a:ext>
            </a:extLst>
          </p:cNvPr>
          <p:cNvSpPr/>
          <p:nvPr/>
        </p:nvSpPr>
        <p:spPr>
          <a:xfrm>
            <a:off x="6363293" y="1457325"/>
            <a:ext cx="2342557" cy="3329938"/>
          </a:xfrm>
          <a:prstGeom prst="round2DiagRect">
            <a:avLst/>
          </a:prstGeom>
          <a:noFill/>
          <a:ln>
            <a:solidFill>
              <a:srgbClr val="B600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ED75F35C-D1A7-CEC8-7FBF-F356FCFDFA69}"/>
              </a:ext>
            </a:extLst>
          </p:cNvPr>
          <p:cNvSpPr/>
          <p:nvPr/>
        </p:nvSpPr>
        <p:spPr>
          <a:xfrm>
            <a:off x="3828252" y="1847989"/>
            <a:ext cx="1651000" cy="2920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6223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Configurar credenciales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Definir SIPSA_USER y SIPSA_PASS en .env antes de exponer el servidor en red.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E7B6D22-0367-3D59-C9B7-E9579B5FA7B5}"/>
              </a:ext>
            </a:extLst>
          </p:cNvPr>
          <p:cNvSpPr/>
          <p:nvPr/>
        </p:nvSpPr>
        <p:spPr>
          <a:xfrm>
            <a:off x="6750050" y="1847989"/>
            <a:ext cx="1651000" cy="29202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6223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2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Iniciar el servidor</a:t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 uvicorn app:app --reload para desarrollo local.</a:t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2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2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</p:txBody>
      </p:sp>
      <p:sp>
        <p:nvSpPr>
          <p:cNvPr id="5" name="object 2">
            <a:extLst>
              <a:ext uri="{FF2B5EF4-FFF2-40B4-BE49-F238E27FC236}">
                <a16:creationId xmlns:a16="http://schemas.microsoft.com/office/drawing/2014/main" id="{D3C8E3EC-678B-AE92-DC52-36C80AB8CA4B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APLICACIÓN WEB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Antes de iniciar la aplicación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Manual de usuario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</a:p>
        </p:txBody>
      </p:sp>
      <p:cxnSp>
        <p:nvCxnSpPr>
          <p:cNvPr id="6" name="Conector recto 5">
            <a:extLst>
              <a:ext uri="{FF2B5EF4-FFF2-40B4-BE49-F238E27FC236}">
                <a16:creationId xmlns:a16="http://schemas.microsoft.com/office/drawing/2014/main" id="{25DC19C7-277C-F9B7-727C-1BC05CBE2F88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028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043BCE3-1FE4-6A5B-72DB-F1C6A978247C}"/>
              </a:ext>
            </a:extLst>
          </p:cNvPr>
          <p:cNvSpPr txBox="1"/>
          <p:nvPr/>
        </p:nvSpPr>
        <p:spPr>
          <a:xfrm>
            <a:off x="486605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Paso 1: cargar el archivo Excel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Arrastrar o seleccionar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Se sube automáticamente a data/01_raw al soltarlo en la zona de carga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Paso 2: confirmar fecha y archivo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El código de fecha se genera solo al elegir el día en el calendario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AFD9082-EB21-3F9C-5068-6E3B7DC7F776}"/>
              </a:ext>
            </a:extLst>
          </p:cNvPr>
          <p:cNvCxnSpPr>
            <a:cxnSpLocks/>
          </p:cNvCxnSpPr>
          <p:nvPr/>
        </p:nvCxnSpPr>
        <p:spPr>
          <a:xfrm rot="5400000" flipH="1">
            <a:off x="3176343" y="2874392"/>
            <a:ext cx="2782029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DD5C459E-E29C-0629-D6FC-6FC1A58D9B0D}"/>
              </a:ext>
            </a:extLst>
          </p:cNvPr>
          <p:cNvSpPr txBox="1"/>
          <p:nvPr/>
        </p:nvSpPr>
        <p:spPr>
          <a:xfrm>
            <a:off x="4978776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Paso 3: ejecutar el pipeline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Registro en vivo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El panel de logs muestra cada línea de kedro run en tiempo real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Archivos generados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Lista de boletines con botón de descarga directa al finalizar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B0C2F99-87C1-279E-AA9D-F904E2A15B38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APLICACIÓN WEB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Flujo de 3 pasos en la interfaz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Manual de usuario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6FC24B3-B9EC-B592-FF75-47F1E63ED8FE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63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09743-38F2-C6E9-ED9B-4C63003A0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C59F6B02-870F-D509-54A7-45590C82E42E}"/>
              </a:ext>
            </a:extLst>
          </p:cNvPr>
          <p:cNvSpPr txBox="1"/>
          <p:nvPr/>
        </p:nvSpPr>
        <p:spPr>
          <a:xfrm>
            <a:off x="422238" y="1840855"/>
            <a:ext cx="3368712" cy="228908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Zona de carga en la pantalla principal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1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Arrastra el Excel semanal o haz clic para seleccionarlo desde el explorador de archivos.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100" b="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Al subir el archivo, el nombre aparece en verde y el paso 1 se marca como completado.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B5A627A7-A7D0-70FD-09C8-6B33FB3C02BE}"/>
              </a:ext>
            </a:extLst>
          </p:cNvPr>
          <p:cNvSpPr txBox="1"/>
          <p:nvPr/>
        </p:nvSpPr>
        <p:spPr>
          <a:xfrm>
            <a:off x="422238" y="1407551"/>
            <a:ext cx="1328408" cy="2354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sz="1200" dirty="0" err="1">
                <a:solidFill>
                  <a:srgbClr val="B6004C"/>
                </a:solidFill>
                <a:latin typeface="+mj-lt"/>
                <a:cs typeface="Arial"/>
              </a:rPr>
              <a:t>Paso 1</a:t>
            </a:r>
            <a:r>
              <a:rPr lang="es-ES" sz="1200" dirty="0">
                <a:solidFill>
                  <a:srgbClr val="B6004C"/>
                </a:solidFill>
                <a:latin typeface="+mj-lt"/>
                <a:cs typeface="Arial"/>
              </a:rPr>
              <a:t/>
            </a:r>
            <a:r>
              <a:rPr lang="es-ES" sz="1200" dirty="0" err="1">
                <a:solidFill>
                  <a:srgbClr val="B6004C"/>
                </a:solidFill>
                <a:latin typeface="+mj-lt"/>
                <a:cs typeface="Arial"/>
              </a:rPr>
              <a:t/>
            </a:r>
            <a:endParaRPr lang="es-ES" sz="1200" dirty="0">
              <a:solidFill>
                <a:srgbClr val="B6004C"/>
              </a:solidFill>
              <a:latin typeface="+mj-lt"/>
              <a:cs typeface="Arial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75144A3C-3123-08F0-9CB0-CC55F02BAAE7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APLICACIÓN WEB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Captura: cargar el archivo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Manual de usuario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DAED45DE-7BFF-ADDD-BCFF-F7D6038D521E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2D9B9C43-FB85-474A-B274-DB23B49936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26727" y="1525274"/>
            <a:ext cx="4317274" cy="283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75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09743-38F2-C6E9-ED9B-4C63003A0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C59F6B02-870F-D509-54A7-45590C82E42E}"/>
              </a:ext>
            </a:extLst>
          </p:cNvPr>
          <p:cNvSpPr txBox="1"/>
          <p:nvPr/>
        </p:nvSpPr>
        <p:spPr>
          <a:xfrm>
            <a:off x="422238" y="1840855"/>
            <a:ext cx="3368712" cy="228908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Estado “Ejecutando pipeline…”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1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La barra de estado se pone azul con un ícono giratorio mientras corre kedro run.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100" b="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El panel de registro muestra cada línea del log en tiempo real, igual que en la terminal.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B5A627A7-A7D0-70FD-09C8-6B33FB3C02BE}"/>
              </a:ext>
            </a:extLst>
          </p:cNvPr>
          <p:cNvSpPr txBox="1"/>
          <p:nvPr/>
        </p:nvSpPr>
        <p:spPr>
          <a:xfrm>
            <a:off x="422238" y="1407551"/>
            <a:ext cx="1328408" cy="2354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sz="1200" dirty="0" err="1">
                <a:solidFill>
                  <a:srgbClr val="B6004C"/>
                </a:solidFill>
                <a:latin typeface="+mj-lt"/>
                <a:cs typeface="Arial"/>
              </a:rPr>
              <a:t>Paso 3</a:t>
            </a:r>
            <a:r>
              <a:rPr lang="es-ES" sz="1200" dirty="0">
                <a:solidFill>
                  <a:srgbClr val="B6004C"/>
                </a:solidFill>
                <a:latin typeface="+mj-lt"/>
                <a:cs typeface="Arial"/>
              </a:rPr>
              <a:t/>
            </a:r>
            <a:r>
              <a:rPr lang="es-ES" sz="1200" dirty="0" err="1">
                <a:solidFill>
                  <a:srgbClr val="B6004C"/>
                </a:solidFill>
                <a:latin typeface="+mj-lt"/>
                <a:cs typeface="Arial"/>
              </a:rPr>
              <a:t/>
            </a:r>
            <a:endParaRPr lang="es-ES" sz="1200" dirty="0">
              <a:solidFill>
                <a:srgbClr val="B6004C"/>
              </a:solidFill>
              <a:latin typeface="+mj-lt"/>
              <a:cs typeface="Arial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75144A3C-3123-08F0-9CB0-CC55F02BAAE7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APLICACIÓN WEB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Captura: pipeline en ejecución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Manual de usuario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DAED45DE-7BFF-ADDD-BCFF-F7D6038D521E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2D9B9C43-FB85-474A-B274-DB23B49936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26727" y="1525274"/>
            <a:ext cx="4317274" cy="283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75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D09743-38F2-C6E9-ED9B-4C63003A0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>
            <a:extLst>
              <a:ext uri="{FF2B5EF4-FFF2-40B4-BE49-F238E27FC236}">
                <a16:creationId xmlns:a16="http://schemas.microsoft.com/office/drawing/2014/main" id="{C59F6B02-870F-D509-54A7-45590C82E42E}"/>
              </a:ext>
            </a:extLst>
          </p:cNvPr>
          <p:cNvSpPr txBox="1"/>
          <p:nvPr/>
        </p:nvSpPr>
        <p:spPr>
          <a:xfrm>
            <a:off x="422238" y="1840855"/>
            <a:ext cx="3368712" cy="2289088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Estado “Pipeline completado exitosamente”</a:t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1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  <a:p>
            <a:pPr marL="12700" marR="62230" lvl="0" defTabSz="914400">
              <a:lnSpc>
                <a:spcPct val="110000"/>
              </a:lnSpc>
              <a:tabLst>
                <a:tab pos="748030" algn="l"/>
                <a:tab pos="1400810" algn="l"/>
                <a:tab pos="1989455" algn="l"/>
                <a:tab pos="2854960" algn="l"/>
                <a:tab pos="3393440" algn="l"/>
                <a:tab pos="4714240" algn="l"/>
                <a:tab pos="5149850" algn="l"/>
                <a:tab pos="5986780" algn="l"/>
                <a:tab pos="6576695" algn="l"/>
                <a:tab pos="7167245" algn="l"/>
              </a:tabLst>
              <a:defRPr/>
            </a:pPr>
            <a:endParaRPr lang="es-MX" sz="110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La barra de estado se pone verde y la sección “Archivos generados” se actualiza sola.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endParaRPr lang="es-MX" sz="1100" b="0" dirty="0">
              <a:solidFill>
                <a:schemeClr val="tx1">
                  <a:lumMod val="75000"/>
                  <a:lumOff val="25000"/>
                </a:schemeClr>
              </a:solidFill>
              <a:cs typeface="Arial"/>
            </a:endParaRPr>
          </a:p>
          <a:p>
            <a:pPr marL="182563" lvl="0" indent="-169863" defTabSz="914400">
              <a:lnSpc>
                <a:spcPct val="110000"/>
              </a:lnSpc>
              <a:buClr>
                <a:srgbClr val="B6004B"/>
              </a:buClr>
              <a:buFont typeface="Arial"/>
              <a:buChar char="•"/>
              <a:defRPr/>
            </a:pP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>Haz clic en “Descargar” junto al boletín más reciente para obtener el Excel final.</a:t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 err="1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  <a:r>
              <a:rPr lang="es-MX" sz="1100" b="0" dirty="0">
                <a:solidFill>
                  <a:schemeClr val="tx1">
                    <a:lumMod val="75000"/>
                    <a:lumOff val="25000"/>
                  </a:schemeClr>
                </a:solidFill>
                <a:cs typeface="Arial"/>
              </a:rPr>
              <a:t/>
            </a: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B5A627A7-A7D0-70FD-09C8-6B33FB3C02BE}"/>
              </a:ext>
            </a:extLst>
          </p:cNvPr>
          <p:cNvSpPr txBox="1"/>
          <p:nvPr/>
        </p:nvSpPr>
        <p:spPr>
          <a:xfrm>
            <a:off x="422238" y="1407551"/>
            <a:ext cx="1328408" cy="235449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sz="1200" dirty="0" err="1">
                <a:solidFill>
                  <a:srgbClr val="B6004C"/>
                </a:solidFill>
                <a:latin typeface="+mj-lt"/>
                <a:cs typeface="Arial"/>
              </a:rPr>
              <a:t>Resultado</a:t>
            </a:r>
            <a:r>
              <a:rPr lang="es-ES" sz="1200" dirty="0">
                <a:solidFill>
                  <a:srgbClr val="B6004C"/>
                </a:solidFill>
                <a:latin typeface="+mj-lt"/>
                <a:cs typeface="Arial"/>
              </a:rPr>
              <a:t/>
            </a:r>
            <a:r>
              <a:rPr lang="es-ES" sz="1200" dirty="0" err="1">
                <a:solidFill>
                  <a:srgbClr val="B6004C"/>
                </a:solidFill>
                <a:latin typeface="+mj-lt"/>
                <a:cs typeface="Arial"/>
              </a:rPr>
              <a:t/>
            </a:r>
            <a:endParaRPr lang="es-ES" sz="1200" dirty="0">
              <a:solidFill>
                <a:srgbClr val="B6004C"/>
              </a:solidFill>
              <a:latin typeface="+mj-lt"/>
              <a:cs typeface="Arial"/>
            </a:endParaRPr>
          </a:p>
        </p:txBody>
      </p:sp>
      <p:sp>
        <p:nvSpPr>
          <p:cNvPr id="10" name="object 2">
            <a:extLst>
              <a:ext uri="{FF2B5EF4-FFF2-40B4-BE49-F238E27FC236}">
                <a16:creationId xmlns:a16="http://schemas.microsoft.com/office/drawing/2014/main" id="{75144A3C-3123-08F0-9CB0-CC55F02BAAE7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APLICACIÓN WEB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Captura: resultado y descarga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Manual de usuario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DAED45DE-7BFF-ADDD-BCFF-F7D6038D521E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Imagen 3">
            <a:extLst>
              <a:ext uri="{FF2B5EF4-FFF2-40B4-BE49-F238E27FC236}">
                <a16:creationId xmlns:a16="http://schemas.microsoft.com/office/drawing/2014/main" id="{2D9B9C43-FB85-474A-B274-DB23B4993650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4826727" y="1525274"/>
            <a:ext cx="4317274" cy="2836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758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1A5C4071-D788-49F1-AF4E-5BAA6A45AA87}"/>
              </a:ext>
            </a:extLst>
          </p:cNvPr>
          <p:cNvSpPr txBox="1"/>
          <p:nvPr/>
        </p:nvSpPr>
        <p:spPr>
          <a:xfrm>
            <a:off x="549190" y="3028278"/>
            <a:ext cx="218075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000" dirty="0">
                <a:solidFill>
                  <a:srgbClr val="4C0425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Errores comunes y cómo resolverlos</a:t>
            </a:r>
          </a:p>
        </p:txBody>
      </p:sp>
      <p:sp>
        <p:nvSpPr>
          <p:cNvPr id="8" name="object 553">
            <a:extLst>
              <a:ext uri="{FF2B5EF4-FFF2-40B4-BE49-F238E27FC236}">
                <a16:creationId xmlns:a16="http://schemas.microsoft.com/office/drawing/2014/main" id="{49562539-4865-4C27-868E-6ECD8A153681}"/>
              </a:ext>
            </a:extLst>
          </p:cNvPr>
          <p:cNvSpPr txBox="1">
            <a:spLocks/>
          </p:cNvSpPr>
          <p:nvPr/>
        </p:nvSpPr>
        <p:spPr>
          <a:xfrm>
            <a:off x="620487" y="1548343"/>
            <a:ext cx="2884589" cy="915251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Solución de</a:t>
            </a:r>
          </a:p>
          <a:p>
            <a:pPr marL="0" indent="0">
              <a:lnSpc>
                <a:spcPct val="90000"/>
              </a:lnSpc>
              <a:spcBef>
                <a:spcPts val="125"/>
              </a:spcBef>
              <a:buNone/>
            </a:pPr>
            <a:r>
              <a:rPr lang="es-ES" dirty="0">
                <a:solidFill>
                  <a:srgbClr val="B6004C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problemas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9CB2BF66-FD0F-4F9B-866E-3D793CC5000E}"/>
              </a:ext>
            </a:extLst>
          </p:cNvPr>
          <p:cNvCxnSpPr>
            <a:cxnSpLocks/>
          </p:cNvCxnSpPr>
          <p:nvPr/>
        </p:nvCxnSpPr>
        <p:spPr>
          <a:xfrm flipH="1">
            <a:off x="640080" y="2722122"/>
            <a:ext cx="2180758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5890E8E-0862-44E7-8BD8-4BBBCB673BFA}"/>
              </a:ext>
            </a:extLst>
          </p:cNvPr>
          <p:cNvSpPr txBox="1"/>
          <p:nvPr/>
        </p:nvSpPr>
        <p:spPr>
          <a:xfrm>
            <a:off x="549190" y="4363548"/>
            <a:ext cx="1824845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s-ES" sz="1400" b="1" i="0" u="none" strike="noStrike" dirty="0">
                <a:solidFill>
                  <a:srgbClr val="B6004C"/>
                </a:solidFill>
                <a:effectLst/>
                <a:latin typeface="Segoe UI" panose="020B0502040204020203" pitchFamily="34" charset="0"/>
                <a:ea typeface="Roboto Medium" panose="02000000000000000000" pitchFamily="2" charset="0"/>
                <a:cs typeface="Segoe UI" panose="020B0502040204020203" pitchFamily="34" charset="0"/>
              </a:rPr>
              <a:t>Manual de usuario</a:t>
            </a:r>
            <a:endParaRPr lang="es-CO" sz="1400" b="1" dirty="0">
              <a:solidFill>
                <a:srgbClr val="B6004C"/>
              </a:solidFill>
              <a:latin typeface="Segoe UI" panose="020B0502040204020203" pitchFamily="34" charset="0"/>
              <a:ea typeface="Roboto Medium" panose="02000000000000000000" pitchFamily="2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377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3043BCE3-1FE4-6A5B-72DB-F1C6A978247C}"/>
              </a:ext>
            </a:extLst>
          </p:cNvPr>
          <p:cNvSpPr txBox="1"/>
          <p:nvPr/>
        </p:nvSpPr>
        <p:spPr>
          <a:xfrm>
            <a:off x="486605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Revisa siempre el mensaje de log antes de repetir la ejecución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Columnas faltantes en el archivo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Si falta P(-1), el sistema la deja vacía y continúa con una advertencia en el log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El pipeline ya está en ejecución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Aparece error 409; espera a que la corrida anterior termine antes de lanzar otra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</a:p>
        </p:txBody>
      </p: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4AFD9082-EB21-3F9C-5068-6E3B7DC7F776}"/>
              </a:ext>
            </a:extLst>
          </p:cNvPr>
          <p:cNvCxnSpPr>
            <a:cxnSpLocks/>
          </p:cNvCxnSpPr>
          <p:nvPr/>
        </p:nvCxnSpPr>
        <p:spPr>
          <a:xfrm rot="5400000" flipH="1">
            <a:off x="3176343" y="2874392"/>
            <a:ext cx="2782029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DD5C459E-E29C-0629-D6FC-6FC1A58D9B0D}"/>
              </a:ext>
            </a:extLst>
          </p:cNvPr>
          <p:cNvSpPr txBox="1"/>
          <p:nvPr/>
        </p:nvSpPr>
        <p:spPr>
          <a:xfrm>
            <a:off x="4978776" y="1693405"/>
            <a:ext cx="3747139" cy="2292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La mayoría de errores se resuelven revisando el .env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AutoNum type="arabicPeriod"/>
              <a:tabLst>
                <a:tab pos="357188" algn="l"/>
              </a:tabLst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SIPSA_ARCHIVO no coincide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El nombre debe coincidir byte a byte con el archivo en data/01_raw/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/>
            </a:pP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228600" indent="-228600">
              <a:buFont typeface="+mj-lt"/>
              <a:buAutoNum type="arabicPeriod" startAt="3"/>
            </a:pPr>
            <a:r>
              <a:rPr lang="es-ES" sz="1100" b="1" dirty="0" err="1">
                <a:solidFill>
                  <a:srgbClr val="404040"/>
                </a:solidFill>
                <a:cs typeface="Arial"/>
              </a:rPr>
              <a:t>Error 401 en la interfaz web</a:t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b="1" dirty="0" err="1">
                <a:solidFill>
                  <a:srgbClr val="404040"/>
                </a:solidFill>
                <a:cs typeface="Arial"/>
              </a:rPr>
              <a:t/>
            </a:r>
            <a:endParaRPr lang="es-ES" sz="1100" b="1" dirty="0">
              <a:solidFill>
                <a:srgbClr val="404040"/>
              </a:solidFill>
              <a:cs typeface="Arial"/>
            </a:endParaRPr>
          </a:p>
          <a:p>
            <a:pPr marL="306388" lvl="1">
              <a:tabLst>
                <a:tab pos="357188" algn="l"/>
              </a:tabLst>
            </a:pPr>
            <a:endParaRPr lang="es-ES" sz="1100" dirty="0">
              <a:solidFill>
                <a:srgbClr val="404040"/>
              </a:solidFill>
              <a:cs typeface="Arial"/>
            </a:endParaRPr>
          </a:p>
          <a:p>
            <a:r>
              <a:rPr lang="es-ES" sz="1100" dirty="0">
                <a:solidFill>
                  <a:srgbClr val="404040"/>
                </a:solidFill>
                <a:cs typeface="Arial"/>
              </a:rPr>
              <a:t>Credenciales incorrectas; verificar SIPSA_USER y SIPSA_PASS en .env</a:t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 err="1">
                <a:solidFill>
                  <a:srgbClr val="404040"/>
                </a:solidFill>
                <a:cs typeface="Arial"/>
              </a:rPr>
              <a:t/>
            </a:r>
            <a:r>
              <a:rPr lang="es-ES" sz="1100" dirty="0">
                <a:solidFill>
                  <a:srgbClr val="404040"/>
                </a:solidFill>
                <a:cs typeface="Arial"/>
              </a:rPr>
              <a:t/>
            </a: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DB0C2F99-87C1-279E-AA9D-F904E2A15B38}"/>
              </a:ext>
            </a:extLst>
          </p:cNvPr>
          <p:cNvSpPr txBox="1"/>
          <p:nvPr/>
        </p:nvSpPr>
        <p:spPr>
          <a:xfrm>
            <a:off x="436234" y="523726"/>
            <a:ext cx="7768166" cy="697114"/>
          </a:xfrm>
          <a:prstGeom prst="rect">
            <a:avLst/>
          </a:prstGeom>
          <a:noFill/>
        </p:spPr>
        <p:txBody>
          <a:bodyPr wrap="square" lIns="68580" tIns="34290" rIns="68580" bIns="34290" rtlCol="0">
            <a:spAutoFit/>
          </a:bodyPr>
          <a:lstStyle>
            <a:defPPr>
              <a:defRPr lang="es-E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-5" normalizeH="0" baseline="0">
                <a:ln>
                  <a:noFill/>
                </a:ln>
                <a:solidFill>
                  <a:srgbClr val="EF3D6F"/>
                </a:solidFill>
                <a:effectLst/>
                <a:uLnTx/>
                <a:uFillTx/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lvl="0">
              <a:lnSpc>
                <a:spcPct val="90000"/>
              </a:lnSpc>
              <a:defRPr/>
            </a:pPr>
            <a:r>
              <a:rPr lang="es-ES" dirty="0">
                <a:solidFill>
                  <a:srgbClr val="B6004C"/>
                </a:solidFill>
                <a:latin typeface="+mj-lt"/>
                <a:cs typeface="Arial"/>
              </a:rPr>
              <a:t>SOLUCIÓN DE PROBLEMAS</a:t>
            </a:r>
          </a:p>
          <a:p>
            <a:pPr lvl="0">
              <a:lnSpc>
                <a:spcPct val="90000"/>
              </a:lnSpc>
              <a:defRPr/>
            </a:pPr>
            <a:r>
              <a:rPr lang="es-E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/>
              </a:rPr>
              <a:t>Problemas comunes</a:t>
            </a:r>
          </a:p>
          <a:p>
            <a:pPr lvl="0">
              <a:defRPr/>
            </a:pP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>Manual de usuario</a:t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  <a:r>
              <a:rPr lang="es-ES" sz="12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Roboto Medium" panose="02000000000000000000" pitchFamily="2" charset="0"/>
                <a:cs typeface="Arial"/>
              </a:rPr>
              <a:t/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56FC24B3-B9EC-B592-FF75-47F1E63ED8FE}"/>
              </a:ext>
            </a:extLst>
          </p:cNvPr>
          <p:cNvCxnSpPr>
            <a:cxnSpLocks/>
          </p:cNvCxnSpPr>
          <p:nvPr/>
        </p:nvCxnSpPr>
        <p:spPr>
          <a:xfrm flipV="1">
            <a:off x="354406" y="586740"/>
            <a:ext cx="0" cy="541020"/>
          </a:xfrm>
          <a:prstGeom prst="line">
            <a:avLst/>
          </a:prstGeom>
          <a:ln>
            <a:solidFill>
              <a:srgbClr val="4C042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638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553">
            <a:extLst>
              <a:ext uri="{FF2B5EF4-FFF2-40B4-BE49-F238E27FC236}">
                <a16:creationId xmlns:a16="http://schemas.microsoft.com/office/drawing/2014/main" id="{B8D46D3A-C3F4-48A5-AA8F-1AB73DFAD2C8}"/>
              </a:ext>
            </a:extLst>
          </p:cNvPr>
          <p:cNvSpPr txBox="1">
            <a:spLocks/>
          </p:cNvSpPr>
          <p:nvPr/>
        </p:nvSpPr>
        <p:spPr>
          <a:xfrm>
            <a:off x="452208" y="1571591"/>
            <a:ext cx="3267737" cy="816762"/>
          </a:xfrm>
          <a:prstGeom prst="rect">
            <a:avLst/>
          </a:prstGeom>
          <a:noFill/>
        </p:spPr>
        <p:txBody>
          <a:bodyPr vert="horz" wrap="square" lIns="0" tIns="15875" rIns="0" bIns="0" rtlCol="0">
            <a:sp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12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srgbClr val="B6004C"/>
                </a:solidFill>
                <a:effectLst/>
                <a:uLnTx/>
                <a:uFillTx/>
                <a:latin typeface="Segoe UI"/>
                <a:ea typeface="+mn-ea"/>
                <a:cs typeface="+mn-cs"/>
                <a:sym typeface="Arial"/>
              </a:rPr>
              <a:t>Fin del</a:t>
            </a:r>
          </a:p>
          <a:p>
            <a:pPr marL="0" marR="0" lvl="0" indent="0" algn="l" defTabSz="457200" rtl="0" eaLnBrk="1" fontAlgn="auto" latinLnBrk="0" hangingPunct="1">
              <a:lnSpc>
                <a:spcPct val="80000"/>
              </a:lnSpc>
              <a:spcBef>
                <a:spcPts val="125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b="0" i="0" u="none" strike="noStrike" kern="1200" cap="none" spc="0" normalizeH="0" baseline="0" noProof="0" dirty="0">
                <a:ln>
                  <a:noFill/>
                </a:ln>
                <a:solidFill>
                  <a:srgbClr val="B6004C"/>
                </a:solidFill>
                <a:effectLst/>
                <a:uLnTx/>
                <a:uFillTx/>
                <a:latin typeface="Segoe UI"/>
                <a:ea typeface="+mn-ea"/>
                <a:cs typeface="+mn-cs"/>
                <a:sym typeface="Arial"/>
              </a:rPr>
              <a:t>manual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288A9B0-E563-4E62-BAA5-5EEDAA75A06F}"/>
              </a:ext>
            </a:extLst>
          </p:cNvPr>
          <p:cNvCxnSpPr>
            <a:cxnSpLocks/>
          </p:cNvCxnSpPr>
          <p:nvPr/>
        </p:nvCxnSpPr>
        <p:spPr>
          <a:xfrm flipH="1">
            <a:off x="452208" y="2506245"/>
            <a:ext cx="2016672" cy="0"/>
          </a:xfrm>
          <a:prstGeom prst="line">
            <a:avLst/>
          </a:prstGeom>
          <a:ln w="3175">
            <a:solidFill>
              <a:srgbClr val="B6004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ángulo 9">
            <a:extLst>
              <a:ext uri="{FF2B5EF4-FFF2-40B4-BE49-F238E27FC236}">
                <a16:creationId xmlns:a16="http://schemas.microsoft.com/office/drawing/2014/main" id="{C188AECA-DDFA-4D4C-918D-FBA3B2BBFD5F}"/>
              </a:ext>
            </a:extLst>
          </p:cNvPr>
          <p:cNvSpPr/>
          <p:nvPr/>
        </p:nvSpPr>
        <p:spPr>
          <a:xfrm>
            <a:off x="341446" y="2703265"/>
            <a:ext cx="1827744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ES" sz="3200" b="0" i="0" u="none" strike="noStrike" kern="0" cap="none" spc="0" normalizeH="0" baseline="0" noProof="0" dirty="0">
                <a:ln>
                  <a:noFill/>
                </a:ln>
                <a:solidFill>
                  <a:srgbClr val="4C0425"/>
                </a:solidFill>
                <a:effectLst/>
                <a:uLnTx/>
                <a:uFillTx/>
                <a:latin typeface="Segoe UI"/>
                <a:cs typeface="Arial"/>
                <a:sym typeface="Arial"/>
              </a:rPr>
              <a:t>Consulta la documentación técnica completa en docs/</a:t>
            </a:r>
            <a:endParaRPr kumimoji="0" lang="es-CO" sz="3200" b="0" i="0" u="none" strike="noStrike" kern="0" cap="none" spc="0" normalizeH="0" baseline="0" noProof="0" dirty="0">
              <a:ln>
                <a:noFill/>
              </a:ln>
              <a:solidFill>
                <a:srgbClr val="4C0425"/>
              </a:solidFill>
              <a:effectLst/>
              <a:uLnTx/>
              <a:uFillTx/>
              <a:latin typeface="Segoe UI"/>
              <a:cs typeface="Arial"/>
              <a:sym typeface="Arial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86816B4-AA15-472F-86BE-8668D5C9C72D}"/>
              </a:ext>
            </a:extLst>
          </p:cNvPr>
          <p:cNvSpPr txBox="1"/>
          <p:nvPr/>
        </p:nvSpPr>
        <p:spPr>
          <a:xfrm>
            <a:off x="387166" y="3485059"/>
            <a:ext cx="2818808" cy="264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s-ES" sz="1400" b="1" kern="0" dirty="0">
                <a:solidFill>
                  <a:srgbClr val="70002D"/>
                </a:solidFill>
                <a:latin typeface="Segoe UI"/>
                <a:ea typeface="Roboto Medium" panose="02000000000000000000" pitchFamily="2" charset="0"/>
                <a:cs typeface="Arial"/>
                <a:sym typeface="Arial"/>
              </a:rPr>
              <a:t>SIPSA Precios</a:t>
            </a:r>
            <a:endParaRPr kumimoji="0" lang="es-CO" sz="1400" b="1" i="0" u="none" strike="noStrike" kern="0" cap="none" spc="0" normalizeH="0" baseline="0" noProof="0" dirty="0">
              <a:ln>
                <a:noFill/>
              </a:ln>
              <a:solidFill>
                <a:srgbClr val="70002D"/>
              </a:solidFill>
              <a:effectLst/>
              <a:uLnTx/>
              <a:uFillTx/>
              <a:latin typeface="Segoe UI"/>
              <a:ea typeface="Roboto Medium" panose="02000000000000000000" pitchFamily="2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4490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NGAGE" val="{&quot;SavedSwatch&quot;:&quot;-16748873|-8341960|-3468525|-2064878|-9539986|Markido&quot;,&quot;Id&quot;:&quot;6245e20532323505c0772813&quot;,&quot;SmartGridHorizontal&quot;:0,&quot;LinkedExcelSources&quot;:{},&quot;LinkedProjectSources&quot;:{},&quot;FlowConfig&quot;:{&quot;Canvas&quot;:{&quot;Slide&quot;:-1,&quot;Width&quot;:0,&quot;Height&quot;:0},&quot;Timeline&quot;:{&quot;Actions&quot;:[]}},&quot;LinkedSlideMergeSources&quot;:{},&quot;LinkedSharePointSlideMergeSources&quot;:{}}"/>
</p:tagLst>
</file>

<file path=ppt/theme/theme1.xml><?xml version="1.0" encoding="utf-8"?>
<a:theme xmlns:a="http://schemas.openxmlformats.org/drawingml/2006/main" name="17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8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9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9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4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6.xml><?xml version="1.0" encoding="utf-8"?>
<a:theme xmlns:a="http://schemas.openxmlformats.org/drawingml/2006/main" name="1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6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8.xml><?xml version="1.0" encoding="utf-8"?>
<a:theme xmlns:a="http://schemas.openxmlformats.org/drawingml/2006/main" name="12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9.xml><?xml version="1.0" encoding="utf-8"?>
<a:theme xmlns:a="http://schemas.openxmlformats.org/drawingml/2006/main" name="5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0.xml><?xml version="1.0" encoding="utf-8"?>
<a:theme xmlns:a="http://schemas.openxmlformats.org/drawingml/2006/main" name="10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1.xml><?xml version="1.0" encoding="utf-8"?>
<a:theme xmlns:a="http://schemas.openxmlformats.org/drawingml/2006/main" name="20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2.xml><?xml version="1.0" encoding="utf-8"?>
<a:theme xmlns:a="http://schemas.openxmlformats.org/drawingml/2006/main" name="21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3.xml><?xml version="1.0" encoding="utf-8"?>
<a:theme xmlns:a="http://schemas.openxmlformats.org/drawingml/2006/main" name="36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4.xml><?xml version="1.0" encoding="utf-8"?>
<a:theme xmlns:a="http://schemas.openxmlformats.org/drawingml/2006/main" name="32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5.xml><?xml version="1.0" encoding="utf-8"?>
<a:theme xmlns:a="http://schemas.openxmlformats.org/drawingml/2006/main" name="29_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egoe UI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16.xml><?xml version="1.0" encoding="utf-8"?>
<a:theme xmlns:a="http://schemas.openxmlformats.org/drawingml/2006/main" name="35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7.xml><?xml version="1.0" encoding="utf-8"?>
<a:theme xmlns:a="http://schemas.openxmlformats.org/drawingml/2006/main" name="37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8.xml><?xml version="1.0" encoding="utf-8"?>
<a:theme xmlns:a="http://schemas.openxmlformats.org/drawingml/2006/main" name="38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9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b841f3fa-9ef8-4e95-9162-d8f0c2a8a625">
      <UserInfo>
        <DisplayName>Ricardo Valencia Ramirez</DisplayName>
        <AccountId>17</AccountId>
        <AccountType/>
      </UserInfo>
      <UserInfo>
        <DisplayName>Luis Eduardo Gonzalez Lozano</DisplayName>
        <AccountId>7</AccountId>
        <AccountType/>
      </UserInfo>
      <UserInfo>
        <DisplayName>Ella Nancy Cardenas Rincon</DisplayName>
        <AccountId>42</AccountId>
        <AccountType/>
      </UserInfo>
      <UserInfo>
        <DisplayName>Juliana Paola Forero Larrotta</DisplayName>
        <AccountId>43</AccountId>
        <AccountType/>
      </UserInfo>
      <UserInfo>
        <DisplayName>Julieth Carolina Villamil Monroy</DisplayName>
        <AccountId>47</AccountId>
        <AccountType/>
      </UserInfo>
    </SharedWithUsers>
    <lcf76f155ced4ddcb4097134ff3c332f xmlns="48190eb6-8e6e-4223-a66e-2e079989e3d0">
      <Terms xmlns="http://schemas.microsoft.com/office/infopath/2007/PartnerControls"/>
    </lcf76f155ced4ddcb4097134ff3c332f>
    <TaxCatchAll xmlns="b841f3fa-9ef8-4e95-9162-d8f0c2a8a62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71B0C79EC65C64C8028616C896BAA13" ma:contentTypeVersion="15" ma:contentTypeDescription="Crear nuevo documento." ma:contentTypeScope="" ma:versionID="12716d1a12d65b5c1618f4145b30b094">
  <xsd:schema xmlns:xsd="http://www.w3.org/2001/XMLSchema" xmlns:xs="http://www.w3.org/2001/XMLSchema" xmlns:p="http://schemas.microsoft.com/office/2006/metadata/properties" xmlns:ns2="48190eb6-8e6e-4223-a66e-2e079989e3d0" xmlns:ns3="b841f3fa-9ef8-4e95-9162-d8f0c2a8a625" targetNamespace="http://schemas.microsoft.com/office/2006/metadata/properties" ma:root="true" ma:fieldsID="9bab6d5d82db4d1fe2b49dae0f3a407c" ns2:_="" ns3:_="">
    <xsd:import namespace="48190eb6-8e6e-4223-a66e-2e079989e3d0"/>
    <xsd:import namespace="b841f3fa-9ef8-4e95-9162-d8f0c2a8a62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190eb6-8e6e-4223-a66e-2e079989e3d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Etiquetas de imagen" ma:readOnly="false" ma:fieldId="{5cf76f15-5ced-4ddc-b409-7134ff3c332f}" ma:taxonomyMulti="true" ma:sspId="ea9b580d-3441-472b-b633-05114d4a3dc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841f3fa-9ef8-4e95-9162-d8f0c2a8a625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854f2426-c973-4890-a512-a6fbe72ad6ef}" ma:internalName="TaxCatchAll" ma:showField="CatchAllData" ma:web="b841f3fa-9ef8-4e95-9162-d8f0c2a8a62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186183-7A83-4EA4-925C-BBE59EB647C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091BFB-87A1-4A0B-B0D6-1191748E723C}">
  <ds:schemaRefs>
    <ds:schemaRef ds:uri="http://purl.org/dc/dcmitype/"/>
    <ds:schemaRef ds:uri="48190eb6-8e6e-4223-a66e-2e079989e3d0"/>
    <ds:schemaRef ds:uri="b841f3fa-9ef8-4e95-9162-d8f0c2a8a625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39CF3255-0371-4308-9A10-F51142D1603D}"/>
</file>

<file path=docProps/app.xml><?xml version="1.0" encoding="utf-8"?>
<Properties xmlns="http://schemas.openxmlformats.org/officeDocument/2006/extended-properties" xmlns:vt="http://schemas.openxmlformats.org/officeDocument/2006/docPropsVTypes">
  <TotalTime>38528</TotalTime>
  <Words>1104</Words>
  <Application>Microsoft Office PowerPoint</Application>
  <PresentationFormat>Presentación en pantalla (16:9)</PresentationFormat>
  <Paragraphs>283</Paragraphs>
  <Slides>25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18</vt:i4>
      </vt:variant>
      <vt:variant>
        <vt:lpstr>Títulos de diapositiva</vt:lpstr>
      </vt:variant>
      <vt:variant>
        <vt:i4>25</vt:i4>
      </vt:variant>
    </vt:vector>
  </HeadingPairs>
  <TitlesOfParts>
    <vt:vector size="43" baseType="lpstr">
      <vt:lpstr>17_Tema de Office</vt:lpstr>
      <vt:lpstr>18_Tema de Office</vt:lpstr>
      <vt:lpstr>19_Tema de Office</vt:lpstr>
      <vt:lpstr>9_Tema de Office</vt:lpstr>
      <vt:lpstr>4_Tema de Office</vt:lpstr>
      <vt:lpstr>11_Tema de Office</vt:lpstr>
      <vt:lpstr>6_Tema de Office</vt:lpstr>
      <vt:lpstr>12_Tema de Office</vt:lpstr>
      <vt:lpstr>5_Tema de Office</vt:lpstr>
      <vt:lpstr>10_Tema de Office</vt:lpstr>
      <vt:lpstr>20_Tema de Office</vt:lpstr>
      <vt:lpstr>21_Tema de Office</vt:lpstr>
      <vt:lpstr>36_Tema de Office</vt:lpstr>
      <vt:lpstr>32_Tema de Office</vt:lpstr>
      <vt:lpstr>29_Tema de Office</vt:lpstr>
      <vt:lpstr>35_Tema de Office</vt:lpstr>
      <vt:lpstr>37_Tema de Office</vt:lpstr>
      <vt:lpstr>38_Tema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DANE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de Usuario - SIPSA Precios</dc:title>
  <dc:creator>SIPSA Precios</dc:creator>
  <cp:lastModifiedBy>María Angélica Cruz Herrera</cp:lastModifiedBy>
  <cp:revision>1558</cp:revision>
  <cp:lastPrinted>2020-03-03T16:51:54Z</cp:lastPrinted>
  <dcterms:created xsi:type="dcterms:W3CDTF">2018-06-21T20:42:53Z</dcterms:created>
  <dcterms:modified xsi:type="dcterms:W3CDTF">2025-10-21T16:22:48Z</dcterms:modified>
  <dc:subject>Pipeline semanal de precios mayoristas DANE</dc:subject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0x010100071B0C79EC65C64C8028616C896BAA13</vt:lpwstr>
  </property>
  <property fmtid="{D5CDD505-2E9C-101B-9397-08002B2CF9AE}" pid="3" name="MediaServiceImageTags">
    <vt:lpwstr/>
  </property>
</Properties>
</file>