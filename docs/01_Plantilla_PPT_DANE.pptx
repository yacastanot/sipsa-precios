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1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2.xml" ContentType="application/vnd.openxmlformats-officedocument.theme+xml"/>
  <Override PartName="/ppt/slideLayouts/slideLayout16.xml" ContentType="application/vnd.openxmlformats-officedocument.presentationml.slideLayout+xml"/>
  <Override PartName="/ppt/theme/theme13.xml" ContentType="application/vnd.openxmlformats-officedocument.theme+xml"/>
  <Override PartName="/ppt/slideLayouts/slideLayout17.xml" ContentType="application/vnd.openxmlformats-officedocument.presentationml.slideLayout+xml"/>
  <Override PartName="/ppt/theme/theme1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5.xml" ContentType="application/vnd.openxmlformats-officedocument.theme+xml"/>
  <Override PartName="/ppt/slideLayouts/slideLayout20.xml" ContentType="application/vnd.openxmlformats-officedocument.presentationml.slideLayout+xml"/>
  <Override PartName="/ppt/theme/theme16.xml" ContentType="application/vnd.openxmlformats-officedocument.theme+xml"/>
  <Override PartName="/ppt/slideLayouts/slideLayout21.xml" ContentType="application/vnd.openxmlformats-officedocument.presentationml.slideLayout+xml"/>
  <Override PartName="/ppt/theme/theme17.xml" ContentType="application/vnd.openxmlformats-officedocument.theme+xml"/>
  <Override PartName="/ppt/slideLayouts/slideLayout22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7" r:id="rId4"/>
    <p:sldMasterId id="2147483739" r:id="rId5"/>
    <p:sldMasterId id="2147483744" r:id="rId6"/>
    <p:sldMasterId id="2147483693" r:id="rId7"/>
    <p:sldMasterId id="2147483684" r:id="rId8"/>
    <p:sldMasterId id="2147483713" r:id="rId9"/>
    <p:sldMasterId id="2147483715" r:id="rId10"/>
    <p:sldMasterId id="2147483717" r:id="rId11"/>
    <p:sldMasterId id="2147483711" r:id="rId12"/>
    <p:sldMasterId id="2147483705" r:id="rId13"/>
    <p:sldMasterId id="2147483747" r:id="rId14"/>
    <p:sldMasterId id="2147483750" r:id="rId15"/>
    <p:sldMasterId id="2147483753" r:id="rId16"/>
    <p:sldMasterId id="2147483755" r:id="rId17"/>
    <p:sldMasterId id="2147483757" r:id="rId18"/>
    <p:sldMasterId id="2147483762" r:id="rId19"/>
    <p:sldMasterId id="2147483764" r:id="rId20"/>
    <p:sldMasterId id="2147483766" r:id="rId21"/>
  </p:sldMasterIdLst>
  <p:notesMasterIdLst>
    <p:notesMasterId r:id="rId47"/>
  </p:notesMasterIdLst>
  <p:sldIdLst>
    <p:sldId id="3135" r:id="rId22"/>
    <p:sldId id="3105" r:id="rId23"/>
    <p:sldId id="3129" r:id="rId24"/>
    <p:sldId id="2145706281" r:id="rId25"/>
    <p:sldId id="3130" r:id="rId26"/>
    <p:sldId id="2145706279" r:id="rId27"/>
    <p:sldId id="2352" r:id="rId28"/>
    <p:sldId id="3131" r:id="rId29"/>
    <p:sldId id="3107" r:id="rId30"/>
    <p:sldId id="3132" r:id="rId31"/>
    <p:sldId id="3119" r:id="rId32"/>
    <p:sldId id="3216" r:id="rId33"/>
    <p:sldId id="2870" r:id="rId34"/>
    <p:sldId id="2145706298" r:id="rId35"/>
    <p:sldId id="3120" r:id="rId36"/>
    <p:sldId id="3134" r:id="rId37"/>
    <p:sldId id="2872" r:id="rId38"/>
    <p:sldId id="2145706299" r:id="rId39"/>
    <p:sldId id="3133" r:id="rId40"/>
    <p:sldId id="2145706297" r:id="rId41"/>
    <p:sldId id="3121" r:id="rId42"/>
    <p:sldId id="3125" r:id="rId43"/>
    <p:sldId id="2145706293" r:id="rId44"/>
    <p:sldId id="2704" r:id="rId45"/>
    <p:sldId id="2065" r:id="rId46"/>
  </p:sldIdLst>
  <p:sldSz cx="9144000" cy="5143500" type="screen16x9"/>
  <p:notesSz cx="7010400" cy="9296400"/>
  <p:embeddedFontLst>
    <p:embeddedFont>
      <p:font typeface="Encode Sans Condensed" panose="020B0604020202020204" charset="0"/>
      <p:regular r:id="rId48"/>
      <p:bold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</p:embeddedFontLst>
  <p:custDataLst>
    <p:tags r:id="rId54"/>
  </p:custDataLst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 Andrea Garcia Rojas" initials="KAGR" lastIdx="1" clrIdx="0">
    <p:extLst>
      <p:ext uri="{19B8F6BF-5375-455C-9EA6-DF929625EA0E}">
        <p15:presenceInfo xmlns:p15="http://schemas.microsoft.com/office/powerpoint/2012/main" userId="Karen Andrea Garcia Rojas" providerId="None"/>
      </p:ext>
    </p:extLst>
  </p:cmAuthor>
  <p:cmAuthor id="2" name="Andres Francisco Mejia Bocanegra" initials="AFMB" lastIdx="1" clrIdx="1">
    <p:extLst>
      <p:ext uri="{19B8F6BF-5375-455C-9EA6-DF929625EA0E}">
        <p15:presenceInfo xmlns:p15="http://schemas.microsoft.com/office/powerpoint/2012/main" userId="S-1-5-21-2099920240-1651340864-1353397897-97936" providerId="AD"/>
      </p:ext>
    </p:extLst>
  </p:cmAuthor>
  <p:cmAuthor id="3" name="Angela Lucia Forero Vargas" initials="AF" lastIdx="1" clrIdx="2">
    <p:extLst>
      <p:ext uri="{19B8F6BF-5375-455C-9EA6-DF929625EA0E}">
        <p15:presenceInfo xmlns:p15="http://schemas.microsoft.com/office/powerpoint/2012/main" userId="Angela Lucia Forero Varg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0425"/>
    <a:srgbClr val="B6004C"/>
    <a:srgbClr val="FF99CC"/>
    <a:srgbClr val="8D143D"/>
    <a:srgbClr val="7F7F7F"/>
    <a:srgbClr val="EF3C6F"/>
    <a:srgbClr val="6F2A4D"/>
    <a:srgbClr val="FEC03B"/>
    <a:srgbClr val="6B234A"/>
    <a:srgbClr val="6F2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4038"/>
  </p:normalViewPr>
  <p:slideViewPr>
    <p:cSldViewPr snapToGrid="0">
      <p:cViewPr varScale="1">
        <p:scale>
          <a:sx n="147" d="100"/>
          <a:sy n="147" d="100"/>
        </p:scale>
        <p:origin x="1008" y="108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7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9" Type="http://schemas.openxmlformats.org/officeDocument/2006/relationships/slide" Target="slides/slide18.xml"/><Relationship Id="rId21" Type="http://schemas.openxmlformats.org/officeDocument/2006/relationships/slideMaster" Target="slideMasters/slideMaster18.xml"/><Relationship Id="rId34" Type="http://schemas.openxmlformats.org/officeDocument/2006/relationships/slide" Target="slides/slide13.xml"/><Relationship Id="rId42" Type="http://schemas.openxmlformats.org/officeDocument/2006/relationships/slide" Target="slides/slide2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40" Type="http://schemas.openxmlformats.org/officeDocument/2006/relationships/slide" Target="slides/slide19.xml"/><Relationship Id="rId45" Type="http://schemas.openxmlformats.org/officeDocument/2006/relationships/slide" Target="slides/slide24.xml"/><Relationship Id="rId53" Type="http://schemas.openxmlformats.org/officeDocument/2006/relationships/font" Target="fonts/font6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Master" Target="slideMasters/slideMaster1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slide" Target="slides/slide22.xml"/><Relationship Id="rId48" Type="http://schemas.openxmlformats.org/officeDocument/2006/relationships/font" Target="fonts/font1.fntdata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slide" Target="slides/slide25.xml"/><Relationship Id="rId59" Type="http://schemas.openxmlformats.org/officeDocument/2006/relationships/tableStyles" Target="tableStyles.xml"/><Relationship Id="rId20" Type="http://schemas.openxmlformats.org/officeDocument/2006/relationships/slideMaster" Target="slideMasters/slideMaster17.xml"/><Relationship Id="rId41" Type="http://schemas.openxmlformats.org/officeDocument/2006/relationships/slide" Target="slides/slide20.xml"/><Relationship Id="rId54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49" Type="http://schemas.openxmlformats.org/officeDocument/2006/relationships/font" Target="fonts/font2.fntdata"/><Relationship Id="rId57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0.xml"/><Relationship Id="rId44" Type="http://schemas.openxmlformats.org/officeDocument/2006/relationships/slide" Target="slides/slide23.xml"/><Relationship Id="rId52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IPC\Gr&#225;fic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GIT%20Informaci&#243;n%20y%20Servicio%20al%20Ciudadano\REGISTRO%20Y%20MEDICI&#211;N%20DE%20SATISFACCI&#211;N\2018\USUARIOS\Octubre\Medicion%20de%20Satisfacci&#243;n%20OCTUBRE%202018\Graficos%20Octubre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GIT%20Informaci&#243;n%20y%20Servicio%20al%20Ciudadano\REGISTRO%20Y%20MEDICI&#211;N%20DE%20SATISFACCI&#211;N\2018\USUARIOS\Octubre\Medicion%20de%20Satisfacci&#243;n%20OCTUBRE%202018\Graficos%20Octubr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83146931768217E-2"/>
          <c:y val="2.639478118962631E-2"/>
          <c:w val="0.89771080594877095"/>
          <c:h val="0.697204479114383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Ciudades!$C$3</c:f>
              <c:strCache>
                <c:ptCount val="1"/>
                <c:pt idx="0">
                  <c:v>Variaciones anual del IPC por gasto básico</c:v>
                </c:pt>
              </c:strCache>
            </c:strRef>
          </c:tx>
          <c:spPr>
            <a:solidFill>
              <a:srgbClr val="B6004C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E5E-4912-9F34-E616A2C2DFC7}"/>
              </c:ext>
            </c:extLst>
          </c:dPt>
          <c:dPt>
            <c:idx val="6"/>
            <c:invertIfNegative val="0"/>
            <c:bubble3D val="0"/>
            <c:spPr>
              <a:solidFill>
                <a:srgbClr val="4C042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E5E-4912-9F34-E616A2C2DFC7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5E-4912-9F34-E616A2C2DF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Ciudades!$C$5:$C$29</c:f>
              <c:strCache>
                <c:ptCount val="25"/>
                <c:pt idx="0">
                  <c:v>Barranquilla</c:v>
                </c:pt>
                <c:pt idx="1">
                  <c:v>Medellín</c:v>
                </c:pt>
                <c:pt idx="2">
                  <c:v>Tunja</c:v>
                </c:pt>
                <c:pt idx="3">
                  <c:v>Sincelejo</c:v>
                </c:pt>
                <c:pt idx="4">
                  <c:v>Bogotá D.C.</c:v>
                </c:pt>
                <c:pt idx="5">
                  <c:v>Cartagena</c:v>
                </c:pt>
                <c:pt idx="6">
                  <c:v>Nacional</c:v>
                </c:pt>
                <c:pt idx="7">
                  <c:v>San Andrés</c:v>
                </c:pt>
                <c:pt idx="8">
                  <c:v>Cali</c:v>
                </c:pt>
                <c:pt idx="9">
                  <c:v>Armenia</c:v>
                </c:pt>
                <c:pt idx="10">
                  <c:v>Bucaramanga</c:v>
                </c:pt>
                <c:pt idx="11">
                  <c:v>Manizales</c:v>
                </c:pt>
                <c:pt idx="12">
                  <c:v>Montería</c:v>
                </c:pt>
                <c:pt idx="13">
                  <c:v>Pereira</c:v>
                </c:pt>
                <c:pt idx="14">
                  <c:v>Pasto</c:v>
                </c:pt>
                <c:pt idx="15">
                  <c:v>Ibagué</c:v>
                </c:pt>
                <c:pt idx="16">
                  <c:v>Valledupar</c:v>
                </c:pt>
                <c:pt idx="17">
                  <c:v>Popayán</c:v>
                </c:pt>
                <c:pt idx="18">
                  <c:v>Santa Marta</c:v>
                </c:pt>
                <c:pt idx="19">
                  <c:v>Riohacha</c:v>
                </c:pt>
                <c:pt idx="20">
                  <c:v>Cúcuta</c:v>
                </c:pt>
                <c:pt idx="21">
                  <c:v>Neiva</c:v>
                </c:pt>
                <c:pt idx="22">
                  <c:v>Villavicencio</c:v>
                </c:pt>
                <c:pt idx="23">
                  <c:v>Florencia</c:v>
                </c:pt>
                <c:pt idx="24">
                  <c:v>Quibdó</c:v>
                </c:pt>
              </c:strCache>
            </c:strRef>
          </c:cat>
          <c:val>
            <c:numRef>
              <c:f>Ciudades!$D$5:$D$29</c:f>
              <c:numCache>
                <c:formatCode>0.00</c:formatCode>
                <c:ptCount val="25"/>
                <c:pt idx="0">
                  <c:v>3.4825535300000001</c:v>
                </c:pt>
                <c:pt idx="1">
                  <c:v>3.472987439999998</c:v>
                </c:pt>
                <c:pt idx="2">
                  <c:v>3.42613229</c:v>
                </c:pt>
                <c:pt idx="3">
                  <c:v>3.2550363899999999</c:v>
                </c:pt>
                <c:pt idx="4">
                  <c:v>3.2484786899999998</c:v>
                </c:pt>
                <c:pt idx="5">
                  <c:v>3.2027260700000002</c:v>
                </c:pt>
                <c:pt idx="6">
                  <c:v>3.1</c:v>
                </c:pt>
                <c:pt idx="7">
                  <c:v>3.03762037</c:v>
                </c:pt>
                <c:pt idx="8">
                  <c:v>2.9909555499999998</c:v>
                </c:pt>
                <c:pt idx="9">
                  <c:v>2.9713283700000002</c:v>
                </c:pt>
                <c:pt idx="10">
                  <c:v>2.8179947400000001</c:v>
                </c:pt>
                <c:pt idx="11">
                  <c:v>2.7912155799999998</c:v>
                </c:pt>
                <c:pt idx="12">
                  <c:v>2.7684460799999999</c:v>
                </c:pt>
                <c:pt idx="13">
                  <c:v>2.73322917</c:v>
                </c:pt>
                <c:pt idx="14">
                  <c:v>2.6492566800000001</c:v>
                </c:pt>
                <c:pt idx="15">
                  <c:v>2.5197449000000001</c:v>
                </c:pt>
                <c:pt idx="16">
                  <c:v>2.4480017900000002</c:v>
                </c:pt>
                <c:pt idx="17">
                  <c:v>2.4359213400000002</c:v>
                </c:pt>
                <c:pt idx="18">
                  <c:v>2.31177725</c:v>
                </c:pt>
                <c:pt idx="19">
                  <c:v>2.2977782499999999</c:v>
                </c:pt>
                <c:pt idx="20">
                  <c:v>2.0494347199999998</c:v>
                </c:pt>
                <c:pt idx="21">
                  <c:v>1.9511997700000001</c:v>
                </c:pt>
                <c:pt idx="22">
                  <c:v>1.6380625799999999</c:v>
                </c:pt>
                <c:pt idx="23">
                  <c:v>1.5140002100000001</c:v>
                </c:pt>
                <c:pt idx="24">
                  <c:v>1.4158384500000001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5E-4912-9F34-E616A2C2DF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194344248"/>
        <c:axId val="194344640"/>
      </c:barChart>
      <c:catAx>
        <c:axId val="194344248"/>
        <c:scaling>
          <c:orientation val="minMax"/>
        </c:scaling>
        <c:delete val="0"/>
        <c:axPos val="b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s-CO"/>
                  <a:t>Variación  (%)</a:t>
                </a:r>
              </a:p>
            </c:rich>
          </c:tx>
          <c:layout>
            <c:manualLayout>
              <c:xMode val="edge"/>
              <c:yMode val="edge"/>
              <c:x val="1.38504335511058E-2"/>
              <c:y val="0.27250508063309398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CO"/>
          </a:p>
        </c:txPr>
        <c:crossAx val="194344640"/>
        <c:crosses val="autoZero"/>
        <c:auto val="1"/>
        <c:lblAlgn val="ctr"/>
        <c:lblOffset val="100"/>
        <c:noMultiLvlLbl val="0"/>
      </c:catAx>
      <c:valAx>
        <c:axId val="194344640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s-CO"/>
                  <a:t>Ciudades</a:t>
                </a:r>
              </a:p>
            </c:rich>
          </c:tx>
          <c:layout>
            <c:manualLayout>
              <c:xMode val="edge"/>
              <c:yMode val="edge"/>
              <c:x val="0.46154777384864354"/>
              <c:y val="0.9367746394753149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CO"/>
          </a:p>
        </c:txPr>
        <c:crossAx val="194344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rgbClr val="404040"/>
          </a:solidFill>
          <a:latin typeface="+mj-lt"/>
          <a:cs typeface="Arial"/>
        </a:defRPr>
      </a:pPr>
      <a:endParaRPr lang="es-CO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631941639468181E-2"/>
          <c:y val="4.3310066178603952E-2"/>
          <c:w val="0.90751660930833855"/>
          <c:h val="0.84489522104820403"/>
        </c:manualLayout>
      </c:layout>
      <c:lineChart>
        <c:grouping val="standard"/>
        <c:varyColors val="0"/>
        <c:ser>
          <c:idx val="0"/>
          <c:order val="0"/>
          <c:tx>
            <c:strRef>
              <c:f>Hoja2!$B$3</c:f>
              <c:strCache>
                <c:ptCount val="1"/>
                <c:pt idx="0">
                  <c:v>Total de Registros</c:v>
                </c:pt>
              </c:strCache>
            </c:strRef>
          </c:tx>
          <c:spPr>
            <a:ln>
              <a:solidFill>
                <a:srgbClr val="4C0425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2.0508053932629267E-3"/>
                  <c:y val="4.18957876919427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A5-4135-87B0-44A55658DFF0}"/>
                </c:ext>
              </c:extLst>
            </c:dLbl>
            <c:dLbl>
              <c:idx val="2"/>
              <c:layout>
                <c:manualLayout>
                  <c:x val="-2.0508053932629267E-3"/>
                  <c:y val="1.6758315076776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DA5-4135-87B0-44A55658DFF0}"/>
                </c:ext>
              </c:extLst>
            </c:dLbl>
            <c:dLbl>
              <c:idx val="3"/>
              <c:layout>
                <c:manualLayout>
                  <c:x val="-8.2033830537913341E-3"/>
                  <c:y val="-5.8654102768717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A5-4135-87B0-44A55658DFF0}"/>
                </c:ext>
              </c:extLst>
            </c:dLbl>
            <c:dLbl>
              <c:idx val="5"/>
              <c:layout>
                <c:manualLayout>
                  <c:x val="-1.8457248539366491E-2"/>
                  <c:y val="-2.5137472615164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DA5-4135-87B0-44A55658DF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Hoja2!$A$4:$A$9</c:f>
              <c:strCache>
                <c:ptCount val="6"/>
                <c:pt idx="0">
                  <c:v>Portal Web</c:v>
                </c:pt>
                <c:pt idx="1">
                  <c:v>Telefónico</c:v>
                </c:pt>
                <c:pt idx="2">
                  <c:v>Presencial Sala Especializada</c:v>
                </c:pt>
                <c:pt idx="3">
                  <c:v>Presencial CIAC</c:v>
                </c:pt>
                <c:pt idx="4">
                  <c:v>Correo Electrónico</c:v>
                </c:pt>
                <c:pt idx="5">
                  <c:v>Sistema de Datos Abiertos</c:v>
                </c:pt>
              </c:strCache>
            </c:strRef>
          </c:cat>
          <c:val>
            <c:numRef>
              <c:f>Hoja2!$B$4:$B$9</c:f>
              <c:numCache>
                <c:formatCode>General</c:formatCode>
                <c:ptCount val="6"/>
                <c:pt idx="0">
                  <c:v>0</c:v>
                </c:pt>
                <c:pt idx="1">
                  <c:v>50</c:v>
                </c:pt>
                <c:pt idx="2">
                  <c:v>131</c:v>
                </c:pt>
                <c:pt idx="3">
                  <c:v>202</c:v>
                </c:pt>
                <c:pt idx="4">
                  <c:v>711</c:v>
                </c:pt>
                <c:pt idx="5">
                  <c:v>14676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A5-4135-87B0-44A55658DFF0}"/>
            </c:ext>
          </c:extLst>
        </c:ser>
        <c:ser>
          <c:idx val="1"/>
          <c:order val="1"/>
          <c:tx>
            <c:strRef>
              <c:f>Hoja2!$C$3</c:f>
              <c:strCache>
                <c:ptCount val="1"/>
                <c:pt idx="0">
                  <c:v>Total de Encuestas </c:v>
                </c:pt>
              </c:strCache>
            </c:strRef>
          </c:tx>
          <c:spPr>
            <a:ln>
              <a:solidFill>
                <a:srgbClr val="B6004C"/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4355637752840506E-2"/>
                  <c:y val="-3.35166301535530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DA5-4135-87B0-44A55658DFF0}"/>
                </c:ext>
              </c:extLst>
            </c:dLbl>
            <c:dLbl>
              <c:idx val="1"/>
              <c:layout>
                <c:manualLayout>
                  <c:x val="-3.0762080898943899E-2"/>
                  <c:y val="3.7706208922747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DA5-4135-87B0-44A55658DFF0}"/>
                </c:ext>
              </c:extLst>
            </c:dLbl>
            <c:dLbl>
              <c:idx val="3"/>
              <c:layout>
                <c:manualLayout>
                  <c:x val="4.1016107865258535E-3"/>
                  <c:y val="8.379157538388328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DA5-4135-87B0-44A55658DFF0}"/>
                </c:ext>
              </c:extLst>
            </c:dLbl>
            <c:dLbl>
              <c:idx val="5"/>
              <c:layout>
                <c:manualLayout>
                  <c:x val="-6.1524161797887802E-3"/>
                  <c:y val="-8.37915753838825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DA5-4135-87B0-44A55658DF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Hoja2!$C$4:$C$9</c:f>
              <c:numCache>
                <c:formatCode>0</c:formatCode>
                <c:ptCount val="6"/>
                <c:pt idx="0">
                  <c:v>567</c:v>
                </c:pt>
                <c:pt idx="1">
                  <c:v>35</c:v>
                </c:pt>
                <c:pt idx="2">
                  <c:v>16</c:v>
                </c:pt>
                <c:pt idx="3">
                  <c:v>199</c:v>
                </c:pt>
                <c:pt idx="4">
                  <c:v>42</c:v>
                </c:pt>
                <c:pt idx="5">
                  <c:v>1076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DA5-4135-87B0-44A55658D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1437728"/>
        <c:axId val="193541568"/>
      </c:lineChart>
      <c:catAx>
        <c:axId val="1314377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3541568"/>
        <c:crosses val="autoZero"/>
        <c:auto val="1"/>
        <c:lblAlgn val="ctr"/>
        <c:lblOffset val="100"/>
        <c:noMultiLvlLbl val="0"/>
      </c:catAx>
      <c:valAx>
        <c:axId val="193541568"/>
        <c:scaling>
          <c:logBase val="10"/>
          <c:orientation val="minMax"/>
          <c:min val="1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1314377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9953376518912078"/>
          <c:y val="0.59325227103209766"/>
          <c:w val="0.17526165276234687"/>
          <c:h val="0.2534008988130956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700">
          <a:solidFill>
            <a:schemeClr val="tx1">
              <a:lumMod val="75000"/>
              <a:lumOff val="25000"/>
            </a:schemeClr>
          </a:solidFill>
          <a:latin typeface="+mj-lt"/>
          <a:cs typeface="Arial" panose="020B0604020202020204" pitchFamily="34" charset="0"/>
        </a:defRPr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720996325394605E-3"/>
          <c:y val="5.2270667401067214E-2"/>
          <c:w val="0.99212790036746035"/>
          <c:h val="0.7287659124280365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'Indicadores totales canal'!$C$2</c:f>
              <c:strCache>
                <c:ptCount val="1"/>
                <c:pt idx="0">
                  <c:v>Presencial CIAC</c:v>
                </c:pt>
              </c:strCache>
            </c:strRef>
          </c:tx>
          <c:spPr>
            <a:solidFill>
              <a:srgbClr val="4C0425">
                <a:alpha val="88627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'Indicadores totales canal'!$B$3:$B$8</c:f>
              <c:strCache>
                <c:ptCount val="6"/>
                <c:pt idx="0">
                  <c:v>Territorial Centro - DANE Central</c:v>
                </c:pt>
                <c:pt idx="1">
                  <c:v>Territorial Centro Occidente</c:v>
                </c:pt>
                <c:pt idx="2">
                  <c:v>Territorial Norte </c:v>
                </c:pt>
                <c:pt idx="3">
                  <c:v>Territorial Centro Oriente</c:v>
                </c:pt>
                <c:pt idx="4">
                  <c:v>Territorial Noroccidente</c:v>
                </c:pt>
                <c:pt idx="5">
                  <c:v>Territorial Suroccidente</c:v>
                </c:pt>
              </c:strCache>
            </c:strRef>
          </c:cat>
          <c:val>
            <c:numRef>
              <c:f>'Indicadores totales canal'!$C$3:$C$8</c:f>
              <c:numCache>
                <c:formatCode>0.00</c:formatCode>
                <c:ptCount val="6"/>
                <c:pt idx="0">
                  <c:v>96.68</c:v>
                </c:pt>
                <c:pt idx="1">
                  <c:v>96.95</c:v>
                </c:pt>
                <c:pt idx="2">
                  <c:v>99.5</c:v>
                </c:pt>
                <c:pt idx="3">
                  <c:v>95.57</c:v>
                </c:pt>
                <c:pt idx="4">
                  <c:v>98.92</c:v>
                </c:pt>
                <c:pt idx="5">
                  <c:v>97.87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0-4ECB-A8F8-A410D2BB0893}"/>
            </c:ext>
          </c:extLst>
        </c:ser>
        <c:ser>
          <c:idx val="2"/>
          <c:order val="1"/>
          <c:tx>
            <c:strRef>
              <c:f>'Indicadores totales canal'!$E$2</c:f>
              <c:strCache>
                <c:ptCount val="1"/>
                <c:pt idx="0">
                  <c:v>Telefónico</c:v>
                </c:pt>
              </c:strCache>
            </c:strRef>
          </c:tx>
          <c:spPr>
            <a:solidFill>
              <a:srgbClr val="B6004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'Indicadores totales canal'!$B$3:$B$8</c:f>
              <c:strCache>
                <c:ptCount val="6"/>
                <c:pt idx="0">
                  <c:v>Territorial Centro - DANE Central</c:v>
                </c:pt>
                <c:pt idx="1">
                  <c:v>Territorial Centro Occidente</c:v>
                </c:pt>
                <c:pt idx="2">
                  <c:v>Territorial Norte </c:v>
                </c:pt>
                <c:pt idx="3">
                  <c:v>Territorial Centro Oriente</c:v>
                </c:pt>
                <c:pt idx="4">
                  <c:v>Territorial Noroccidente</c:v>
                </c:pt>
                <c:pt idx="5">
                  <c:v>Territorial Suroccidente</c:v>
                </c:pt>
              </c:strCache>
            </c:strRef>
          </c:cat>
          <c:val>
            <c:numRef>
              <c:f>'Indicadores totales canal'!$E$3:$E$8</c:f>
              <c:numCache>
                <c:formatCode>0.00</c:formatCode>
                <c:ptCount val="6"/>
                <c:pt idx="0">
                  <c:v>97.65</c:v>
                </c:pt>
                <c:pt idx="1">
                  <c:v>95.83</c:v>
                </c:pt>
                <c:pt idx="2">
                  <c:v>97.6</c:v>
                </c:pt>
                <c:pt idx="3">
                  <c:v>98.75</c:v>
                </c:pt>
                <c:pt idx="4">
                  <c:v>99.16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0-4ECB-A8F8-A410D2BB0893}"/>
            </c:ext>
          </c:extLst>
        </c:ser>
        <c:ser>
          <c:idx val="1"/>
          <c:order val="2"/>
          <c:tx>
            <c:strRef>
              <c:f>'Indicadores totales canal'!$D$2</c:f>
              <c:strCache>
                <c:ptCount val="1"/>
                <c:pt idx="0">
                  <c:v>Presencial Sala Especializada</c:v>
                </c:pt>
              </c:strCache>
            </c:strRef>
          </c:tx>
          <c:spPr>
            <a:solidFill>
              <a:srgbClr val="FF99C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'Indicadores totales canal'!$B$3:$B$8</c:f>
              <c:strCache>
                <c:ptCount val="6"/>
                <c:pt idx="0">
                  <c:v>Territorial Centro - DANE Central</c:v>
                </c:pt>
                <c:pt idx="1">
                  <c:v>Territorial Centro Occidente</c:v>
                </c:pt>
                <c:pt idx="2">
                  <c:v>Territorial Norte </c:v>
                </c:pt>
                <c:pt idx="3">
                  <c:v>Territorial Centro Oriente</c:v>
                </c:pt>
                <c:pt idx="4">
                  <c:v>Territorial Noroccidente</c:v>
                </c:pt>
                <c:pt idx="5">
                  <c:v>Territorial Suroccidente</c:v>
                </c:pt>
              </c:strCache>
            </c:strRef>
          </c:cat>
          <c:val>
            <c:numRef>
              <c:f>'Indicadores totales canal'!$D$3:$D$8</c:f>
              <c:numCache>
                <c:formatCode>0.00</c:formatCode>
                <c:ptCount val="6"/>
                <c:pt idx="0">
                  <c:v>87.5</c:v>
                </c:pt>
                <c:pt idx="1">
                  <c:v>85.94</c:v>
                </c:pt>
                <c:pt idx="2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0-4ECB-A8F8-A410D2BB08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193155912"/>
        <c:axId val="193272000"/>
      </c:barChart>
      <c:catAx>
        <c:axId val="1931559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93272000"/>
        <c:crosses val="autoZero"/>
        <c:auto val="1"/>
        <c:lblAlgn val="ctr"/>
        <c:lblOffset val="100"/>
        <c:noMultiLvlLbl val="0"/>
      </c:catAx>
      <c:valAx>
        <c:axId val="19327200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193155912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7331482652488045"/>
          <c:y val="0.92750908759121276"/>
          <c:w val="0.66117631986783398"/>
          <c:h val="6.868211530671422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700">
          <a:latin typeface="+mj-lt"/>
          <a:cs typeface="Arial" panose="020B0604020202020204" pitchFamily="34" charset="0"/>
        </a:defRPr>
      </a:pPr>
      <a:endParaRPr lang="es-CO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09733-6C35-0144-8DCF-77480CA47BBE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A825F-C5BC-0945-9745-BFEF151EC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02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30A825F-C5BC-0945-9745-BFEF151ECAA1}" type="slidenum">
              <a:rPr kumimoji="0" lang="es-E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1706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0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0A825F-C5BC-0945-9745-BFEF151ECAA1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7599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1277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0A825F-C5BC-0945-9745-BFEF151ECAA1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90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468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B648-90F6-3A77-340C-39F92B66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389090-5E57-2CEB-778D-AA01E11D9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5BED39-72B0-1CDD-E3C0-957B267F5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1FDBC6-195B-C531-674A-3F224DE39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7865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2195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775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30A825F-C5BC-0945-9745-BFEF151ECAA1}" type="slidenum">
              <a:rPr kumimoji="0" lang="es-E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2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99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3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99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43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10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3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6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83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09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87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604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743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823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943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542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179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634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959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844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84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83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6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3.svg"/><Relationship Id="rId4" Type="http://schemas.openxmlformats.org/officeDocument/2006/relationships/image" Target="../media/image18.svg"/><Relationship Id="rId9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6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0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1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8647" y="-1225"/>
            <a:ext cx="9270597" cy="5211579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8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D11CB7-43AD-BB3B-57ED-9C938F0E7E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42042" y="-60385"/>
            <a:ext cx="9316370" cy="523731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78BB54-9B8D-4749-B9CE-BEE1A777E6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1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E07A00-4FA5-4A9D-AA55-1540957639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813" y="-8909"/>
            <a:ext cx="9178571" cy="515673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03E934E-2E99-4BC2-AD10-26AB659C6E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4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F135D3F-54DC-F9BA-200A-8B8537420D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0843" y="-47422"/>
            <a:ext cx="9276986" cy="521517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4A4EC75-A6CF-46C4-B01A-E41B8C3548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4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0399B5-2DD9-44E1-FA00-C969C4D98C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29421"/>
            <a:ext cx="9235568" cy="519188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8C35C0-05E9-4494-9C8C-AE8C1886D3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6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155987-4DFD-F329-9EA6-F5F082F93D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4504" y="-17854"/>
            <a:ext cx="9181256" cy="5161354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563870F5-6EC0-449B-8F42-A7B1CD904C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5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DEFF83-2FB9-8A2D-9AFD-9CEE81634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751" y="-38048"/>
            <a:ext cx="9258894" cy="52049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A3053382-5618-4181-A28D-8108129375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4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C9EF76C-CE43-F565-6569-BD72E39136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69010" y="-38796"/>
            <a:ext cx="9282022" cy="521800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21001B8F-E0AC-456F-8BB0-C65DC6CD56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5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36F0E976-8F35-992F-E69D-AB755861F7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092" y="-15116"/>
            <a:ext cx="85434" cy="517586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7FEBCF9-9B36-455A-926F-46D66E478F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1268" y="256263"/>
            <a:ext cx="344868" cy="3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29FA6D40-4D9D-A9D6-5BB1-9F2183F8F447}"/>
              </a:ext>
            </a:extLst>
          </p:cNvPr>
          <p:cNvSpPr txBox="1"/>
          <p:nvPr/>
        </p:nvSpPr>
        <p:spPr>
          <a:xfrm>
            <a:off x="654945" y="4611562"/>
            <a:ext cx="861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>
                <a:solidFill>
                  <a:srgbClr val="6F2A4D"/>
                </a:solidFill>
                <a:latin typeface="+mj-lt"/>
              </a:rPr>
              <a:t>/</a:t>
            </a:r>
            <a:r>
              <a:rPr lang="es-CO" sz="700" dirty="0" err="1">
                <a:solidFill>
                  <a:srgbClr val="6F2A4D"/>
                </a:solidFill>
                <a:latin typeface="+mj-lt"/>
              </a:rPr>
              <a:t>DANEColombia</a:t>
            </a:r>
            <a:endParaRPr lang="es-CO" sz="700" dirty="0">
              <a:solidFill>
                <a:srgbClr val="6F2A4D"/>
              </a:solidFill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693149-7AF1-6BB7-DDE7-2FFE766D1CDE}"/>
              </a:ext>
            </a:extLst>
          </p:cNvPr>
          <p:cNvSpPr txBox="1"/>
          <p:nvPr/>
        </p:nvSpPr>
        <p:spPr>
          <a:xfrm>
            <a:off x="1748051" y="4611562"/>
            <a:ext cx="9696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kern="1200" dirty="0">
                <a:solidFill>
                  <a:srgbClr val="6F2A4D"/>
                </a:solidFill>
                <a:latin typeface="+mj-lt"/>
                <a:ea typeface="+mn-ea"/>
                <a:cs typeface="+mn-cs"/>
              </a:rPr>
              <a:t>@DANE_Colombia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7D1182-310A-60A6-3572-46F41FAE0EA4}"/>
              </a:ext>
            </a:extLst>
          </p:cNvPr>
          <p:cNvSpPr txBox="1"/>
          <p:nvPr/>
        </p:nvSpPr>
        <p:spPr>
          <a:xfrm>
            <a:off x="2901144" y="4605632"/>
            <a:ext cx="9696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kern="1200" dirty="0">
                <a:solidFill>
                  <a:srgbClr val="6F2A4D"/>
                </a:solidFill>
                <a:latin typeface="+mj-lt"/>
                <a:ea typeface="+mn-ea"/>
                <a:cs typeface="+mn-cs"/>
              </a:rPr>
              <a:t>@DANEColombia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1E1DD0-1E17-DF8F-2B84-7B7F11CC48D1}"/>
              </a:ext>
            </a:extLst>
          </p:cNvPr>
          <p:cNvSpPr txBox="1"/>
          <p:nvPr/>
        </p:nvSpPr>
        <p:spPr>
          <a:xfrm>
            <a:off x="4010094" y="4611562"/>
            <a:ext cx="829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>
                <a:solidFill>
                  <a:srgbClr val="6F2A4D"/>
                </a:solidFill>
                <a:latin typeface="+mj-lt"/>
              </a:rPr>
              <a:t>/</a:t>
            </a:r>
            <a:r>
              <a:rPr lang="es-CO" sz="700" dirty="0" err="1">
                <a:solidFill>
                  <a:srgbClr val="6F2A4D"/>
                </a:solidFill>
                <a:latin typeface="+mj-lt"/>
              </a:rPr>
              <a:t>DANEColombia</a:t>
            </a:r>
            <a:endParaRPr lang="es-CO" sz="700" dirty="0">
              <a:solidFill>
                <a:srgbClr val="6F2A4D"/>
              </a:solidFill>
              <a:latin typeface="+mj-lt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8FAE050-48B0-94F0-B936-60DE4159B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61" t="10890" r="94630" b="14357"/>
          <a:stretch/>
        </p:blipFill>
        <p:spPr>
          <a:xfrm>
            <a:off x="497086" y="4611561"/>
            <a:ext cx="157859" cy="188051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9634D0D-73E4-2C50-9CF9-71C6BE7189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3732" t="23205" r="41213" b="16925"/>
          <a:stretch/>
        </p:blipFill>
        <p:spPr>
          <a:xfrm>
            <a:off x="2738959" y="4642091"/>
            <a:ext cx="194236" cy="1506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EAE24192-D127-7EB6-6678-A8647892C2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0439" t="22767" r="15253" b="17363"/>
          <a:stretch/>
        </p:blipFill>
        <p:spPr>
          <a:xfrm>
            <a:off x="3860224" y="4649004"/>
            <a:ext cx="165500" cy="1506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48860669-5E6A-6B94-3B89-50245DFC13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3928" y="4649003"/>
            <a:ext cx="147901" cy="138809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7D02E8D7-2B0B-F4D1-6FF1-748F1168C7E7}"/>
              </a:ext>
            </a:extLst>
          </p:cNvPr>
          <p:cNvSpPr/>
          <p:nvPr userDrawn="1"/>
        </p:nvSpPr>
        <p:spPr>
          <a:xfrm>
            <a:off x="437288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B6004C"/>
              </a:solidFill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921DE08-D94C-6A26-1D40-6C81D84D6658}"/>
              </a:ext>
            </a:extLst>
          </p:cNvPr>
          <p:cNvSpPr/>
          <p:nvPr userDrawn="1"/>
        </p:nvSpPr>
        <p:spPr>
          <a:xfrm>
            <a:off x="1521745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B6DBCF7-766E-AEDE-911B-4894E08146B1}"/>
              </a:ext>
            </a:extLst>
          </p:cNvPr>
          <p:cNvSpPr/>
          <p:nvPr userDrawn="1"/>
        </p:nvSpPr>
        <p:spPr>
          <a:xfrm>
            <a:off x="2695940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585E222-65B8-B07D-2E07-A1411617107C}"/>
              </a:ext>
            </a:extLst>
          </p:cNvPr>
          <p:cNvSpPr/>
          <p:nvPr userDrawn="1"/>
        </p:nvSpPr>
        <p:spPr>
          <a:xfrm>
            <a:off x="3801708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F2150834-82C3-6FB9-078F-0E52B9E5839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9107" y="276670"/>
            <a:ext cx="1731523" cy="675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F86D631-5488-5FAB-4A77-312C66423C9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-26332" y="-43133"/>
            <a:ext cx="9280489" cy="521714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FF2384E-F27E-57F3-F08B-9E9188F79B3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9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8647" y="343"/>
            <a:ext cx="9270597" cy="520844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0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8647" y="343"/>
            <a:ext cx="9270596" cy="520844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ersona, interior, hombre, viendo&#10;&#10;El contenido generado por IA puede ser incorrecto.">
            <a:extLst>
              <a:ext uri="{FF2B5EF4-FFF2-40B4-BE49-F238E27FC236}">
                <a16:creationId xmlns:a16="http://schemas.microsoft.com/office/drawing/2014/main" id="{050E551A-D5D2-BC5B-9E52-5038F9228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1"/>
            <a:ext cx="9144000" cy="513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89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rsona, interior, viendo, ventana&#10;&#10;El contenido generado por IA puede ser incorrecto.">
            <a:extLst>
              <a:ext uri="{FF2B5EF4-FFF2-40B4-BE49-F238E27FC236}">
                <a16:creationId xmlns:a16="http://schemas.microsoft.com/office/drawing/2014/main" id="{B92AD73B-DD57-2FE7-B8F6-F54DCA8560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1"/>
            <a:ext cx="9144000" cy="5137317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78BB54-9B8D-4749-B9CE-BEE1A777E6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0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8647" y="343"/>
            <a:ext cx="9270595" cy="520844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F2A461B-7C50-4EC8-AE20-F9952181E1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9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CF3200-06D4-6138-C1B0-9ED90A53C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91"/>
            <a:ext cx="9144000" cy="51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144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D7EC743-D85B-6C0B-3D37-56841B0BC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26597" y="-28960"/>
            <a:ext cx="9322112" cy="52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886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D7EC743-D85B-6C0B-3D37-56841B0BC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26597" y="-27383"/>
            <a:ext cx="9322112" cy="523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345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553">
            <a:extLst>
              <a:ext uri="{FF2B5EF4-FFF2-40B4-BE49-F238E27FC236}">
                <a16:creationId xmlns:a16="http://schemas.microsoft.com/office/drawing/2014/main" id="{E6DF6675-EB3B-3FE7-396A-4D715E273E59}"/>
              </a:ext>
            </a:extLst>
          </p:cNvPr>
          <p:cNvSpPr txBox="1">
            <a:spLocks/>
          </p:cNvSpPr>
          <p:nvPr/>
        </p:nvSpPr>
        <p:spPr>
          <a:xfrm>
            <a:off x="452208" y="1723280"/>
            <a:ext cx="3267737" cy="1013739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Plantilla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general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4432E96-4D48-3443-721A-3107AF41086C}"/>
              </a:ext>
            </a:extLst>
          </p:cNvPr>
          <p:cNvCxnSpPr>
            <a:cxnSpLocks/>
          </p:cNvCxnSpPr>
          <p:nvPr/>
        </p:nvCxnSpPr>
        <p:spPr>
          <a:xfrm flipH="1">
            <a:off x="452208" y="3004100"/>
            <a:ext cx="2016672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106A8873-5918-47A7-B803-9B7D7D58D2DF}"/>
              </a:ext>
            </a:extLst>
          </p:cNvPr>
          <p:cNvSpPr/>
          <p:nvPr/>
        </p:nvSpPr>
        <p:spPr>
          <a:xfrm>
            <a:off x="387166" y="316352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0" cap="none" spc="0" normalizeH="0" baseline="0" noProof="0" dirty="0">
                <a:ln>
                  <a:noFill/>
                </a:ln>
                <a:solidFill>
                  <a:srgbClr val="4C0425"/>
                </a:solidFill>
                <a:effectLst/>
                <a:uLnTx/>
                <a:uFillTx/>
                <a:latin typeface="Segoe UI"/>
                <a:cs typeface="Arial"/>
                <a:sym typeface="Arial"/>
              </a:rPr>
              <a:t>Subtítulo</a:t>
            </a:r>
            <a:endParaRPr kumimoji="0" lang="es-CO" sz="4000" b="0" i="0" u="none" strike="noStrike" kern="0" cap="none" spc="0" normalizeH="0" baseline="0" noProof="0" dirty="0">
              <a:ln>
                <a:noFill/>
              </a:ln>
              <a:solidFill>
                <a:srgbClr val="4C0425"/>
              </a:solidFill>
              <a:effectLst/>
              <a:uLnTx/>
              <a:uFillTx/>
              <a:latin typeface="Segoe UI"/>
              <a:cs typeface="Arial"/>
              <a:sym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0B1F7B-530C-4B29-8EB7-61B04A47A444}"/>
              </a:ext>
            </a:extLst>
          </p:cNvPr>
          <p:cNvSpPr txBox="1"/>
          <p:nvPr/>
        </p:nvSpPr>
        <p:spPr>
          <a:xfrm>
            <a:off x="387166" y="4452416"/>
            <a:ext cx="2818808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400" b="1" kern="0" dirty="0">
                <a:solidFill>
                  <a:srgbClr val="70002D"/>
                </a:solidFill>
                <a:latin typeface="Segoe UI"/>
                <a:ea typeface="Roboto Medium" panose="02000000000000000000" pitchFamily="2" charset="0"/>
                <a:cs typeface="Arial"/>
                <a:sym typeface="Arial"/>
              </a:rPr>
              <a:t>Fecha 2025</a:t>
            </a:r>
            <a:endParaRPr kumimoji="0" lang="es-CO" sz="1400" b="1" i="0" u="none" strike="noStrike" kern="0" cap="none" spc="0" normalizeH="0" baseline="0" noProof="0" dirty="0">
              <a:ln>
                <a:noFill/>
              </a:ln>
              <a:solidFill>
                <a:srgbClr val="70002D"/>
              </a:solidFill>
              <a:effectLst/>
              <a:uLnTx/>
              <a:uFillTx/>
              <a:latin typeface="Segoe UI"/>
              <a:ea typeface="Roboto Medium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129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     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     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     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elit</a:t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     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Lorem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ipsum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dolor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amet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,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consectetuer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>adipiscing</a:t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>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48139B58-FF9C-439B-BD91-1C72096C3D18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734CFB9-C84D-443D-92F1-8929A35CB57F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3ADE2A7-3B54-45EE-9217-07345E536D15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" name="object 553">
            <a:extLst>
              <a:ext uri="{FF2B5EF4-FFF2-40B4-BE49-F238E27FC236}">
                <a16:creationId xmlns:a16="http://schemas.microsoft.com/office/drawing/2014/main" id="{7C49D2F7-ADA7-EECF-4491-AC5BBC314701}"/>
              </a:ext>
            </a:extLst>
          </p:cNvPr>
          <p:cNvSpPr txBox="1">
            <a:spLocks/>
          </p:cNvSpPr>
          <p:nvPr/>
        </p:nvSpPr>
        <p:spPr>
          <a:xfrm>
            <a:off x="640080" y="1570510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</p:spTree>
    <p:extLst>
      <p:ext uri="{BB962C8B-B14F-4D97-AF65-F5344CB8AC3E}">
        <p14:creationId xmlns:p14="http://schemas.microsoft.com/office/powerpoint/2010/main" val="58816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E270-B20A-E7AD-DB6C-602CAF19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0A6668-95D0-7395-8991-BE4A793C8E22}"/>
              </a:ext>
            </a:extLst>
          </p:cNvPr>
          <p:cNvSpPr/>
          <p:nvPr/>
        </p:nvSpPr>
        <p:spPr>
          <a:xfrm>
            <a:off x="846455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rgbClr val="B6004C"/>
                </a:solidFill>
                <a:cs typeface="Arial"/>
              </a:rPr>
              <a:t>Donec quam felis, ultricies nec pellentesque eu,</a:t>
            </a:r>
            <a:r>
              <a:rPr lang="es-MX" sz="1200" dirty="0">
                <a:solidFill>
                  <a:srgbClr val="B6004C"/>
                </a:solidFill>
                <a:cs typeface="Arial"/>
              </a:rPr>
              <a:t>  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pretium quis,  sem. Nulla consequat massa quis enim. Donec pede justo, fringilla vel, aliquet nec,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A62B4C83-DBB7-B520-AA71-001681A3EB6A}"/>
              </a:ext>
            </a:extLst>
          </p:cNvPr>
          <p:cNvSpPr/>
          <p:nvPr/>
        </p:nvSpPr>
        <p:spPr>
          <a:xfrm>
            <a:off x="541714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509FA53-9EA8-4666-71AE-EA257A2E065A}"/>
              </a:ext>
            </a:extLst>
          </p:cNvPr>
          <p:cNvSpPr/>
          <p:nvPr/>
        </p:nvSpPr>
        <p:spPr>
          <a:xfrm>
            <a:off x="345250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4876C1F6-8037-711C-BCB2-C217B26C3FD9}"/>
              </a:ext>
            </a:extLst>
          </p:cNvPr>
          <p:cNvSpPr/>
          <p:nvPr/>
        </p:nvSpPr>
        <p:spPr>
          <a:xfrm>
            <a:off x="636329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75F35C-D1A7-CEC8-7FBF-F356FCFDFA69}"/>
              </a:ext>
            </a:extLst>
          </p:cNvPr>
          <p:cNvSpPr/>
          <p:nvPr/>
        </p:nvSpPr>
        <p:spPr>
          <a:xfrm>
            <a:off x="3828252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 quam felis, ultricies nec pellentesque eu,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pretium quis,  sem. Nulla consequat massa quis enim. Donec pede justo, fringilla vel, aliquet nec,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7B6D22-0367-3D59-C9B7-E9579B5FA7B5}"/>
              </a:ext>
            </a:extLst>
          </p:cNvPr>
          <p:cNvSpPr/>
          <p:nvPr/>
        </p:nvSpPr>
        <p:spPr>
          <a:xfrm>
            <a:off x="6750050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 quam felis, ultricies nec pellentesque eu,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pretium quis,  sem. Nulla consequat massa quis enim. Donec pede justo, fringilla vel, aliquet nec,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3C8E3EC-678B-AE92-DC52-36C80AB8CA4B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DC19C7-277C-F9B7-727C-1BC05CBE2F88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8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C2541294-6985-44F9-BE48-AC60D8867F14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13" name="object 553">
            <a:extLst>
              <a:ext uri="{FF2B5EF4-FFF2-40B4-BE49-F238E27FC236}">
                <a16:creationId xmlns:a16="http://schemas.microsoft.com/office/drawing/2014/main" id="{D1744F63-434B-4940-A333-9FEF1E3D600F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48D2E3F-E6A0-48DD-AF41-54825212CCD9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D5F3D1-E9C7-41A4-84A8-BA06AD575F28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1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25830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7F8E60B-3FDB-1901-13B3-BECD4B1B09DE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F46B15F-2570-030F-73ED-470C408B827C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8 Gráfico">
            <a:extLst>
              <a:ext uri="{FF2B5EF4-FFF2-40B4-BE49-F238E27FC236}">
                <a16:creationId xmlns:a16="http://schemas.microsoft.com/office/drawing/2014/main" id="{03BEFC69-16AA-4EB1-A784-A6327A738C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362694"/>
              </p:ext>
            </p:extLst>
          </p:nvPr>
        </p:nvGraphicFramePr>
        <p:xfrm>
          <a:off x="373455" y="1432560"/>
          <a:ext cx="8442885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509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B6C0-FDE4-970D-77B2-A2EE136D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30D5218-2D8A-F19A-9BA9-F9205CFC089F}"/>
              </a:ext>
            </a:extLst>
          </p:cNvPr>
          <p:cNvSpPr/>
          <p:nvPr/>
        </p:nvSpPr>
        <p:spPr>
          <a:xfrm>
            <a:off x="373455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0B6A736-56FB-BA0E-D8D3-88412084EFFC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9E31CFB-D892-CF3E-AF58-ED6AD1E3C346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6 Gráfico">
            <a:extLst>
              <a:ext uri="{FF2B5EF4-FFF2-40B4-BE49-F238E27FC236}">
                <a16:creationId xmlns:a16="http://schemas.microsoft.com/office/drawing/2014/main" id="{F5F17152-DDBB-4B83-95ED-D7DE8D00D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095416"/>
              </p:ext>
            </p:extLst>
          </p:nvPr>
        </p:nvGraphicFramePr>
        <p:xfrm>
          <a:off x="435658" y="1369687"/>
          <a:ext cx="8563561" cy="329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014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84E381D9-B860-4530-AFCE-B00DE184EE40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665DA1CE-1E77-4499-A232-1220A3D7161F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31286E-7053-4B52-8C83-93031AD8C0D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D6C949-BD33-463B-9921-3A2019176F77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1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5634-588E-B323-B9D8-D206D0F70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4AE4394-FFC1-3FC2-2C90-C83656236083}"/>
              </a:ext>
            </a:extLst>
          </p:cNvPr>
          <p:cNvSpPr/>
          <p:nvPr/>
        </p:nvSpPr>
        <p:spPr>
          <a:xfrm>
            <a:off x="373455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B67044-EFF0-2EED-073E-E16FD5F64DB8}"/>
              </a:ext>
            </a:extLst>
          </p:cNvPr>
          <p:cNvSpPr/>
          <p:nvPr/>
        </p:nvSpPr>
        <p:spPr>
          <a:xfrm>
            <a:off x="726979" y="1851479"/>
            <a:ext cx="7495540" cy="2513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 quam felis, ultricies nec pellentesque eu,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pretium quis,  sem. Nulla consequat massa quis enim. Donec pede justo, fringilla vel, aliquet nec, vulputate.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 nec odio et ante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0E1AB177-994C-3A27-1A29-88FED0C50DCE}"/>
              </a:ext>
            </a:extLst>
          </p:cNvPr>
          <p:cNvSpPr/>
          <p:nvPr/>
        </p:nvSpPr>
        <p:spPr>
          <a:xfrm>
            <a:off x="422238" y="1584780"/>
            <a:ext cx="8370388" cy="278065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A72E357-F42A-C20B-EF2A-A1C770FB9B1A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748C861-52DF-2C1D-767E-5A9DC32A7061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78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D00D391-717C-1421-84C1-66E24946EE30}"/>
              </a:ext>
            </a:extLst>
          </p:cNvPr>
          <p:cNvSpPr/>
          <p:nvPr/>
        </p:nvSpPr>
        <p:spPr>
          <a:xfrm>
            <a:off x="2987227" y="3313723"/>
            <a:ext cx="1903458" cy="648677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11,4</a:t>
            </a:r>
            <a:endParaRPr lang="es-CO" sz="3600" b="1" dirty="0">
              <a:latin typeface="Encode Sans Condensed" panose="00000506000000000000" pitchFamily="2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FD35240-AC67-6D47-12CE-F1A438221E32}"/>
              </a:ext>
            </a:extLst>
          </p:cNvPr>
          <p:cNvSpPr/>
          <p:nvPr/>
        </p:nvSpPr>
        <p:spPr>
          <a:xfrm>
            <a:off x="514350" y="1566847"/>
            <a:ext cx="2359968" cy="2395553"/>
          </a:xfrm>
          <a:prstGeom prst="rect">
            <a:avLst/>
          </a:prstGeom>
          <a:solidFill>
            <a:srgbClr val="B60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Segoe UI" panose="020B0502040204020203" pitchFamily="34" charset="0"/>
                <a:cs typeface="Segoe UI" panose="020B0502040204020203" pitchFamily="34" charset="0"/>
              </a:rPr>
              <a:t>63,8</a:t>
            </a:r>
            <a:endParaRPr lang="es-CO" sz="4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7A554F-AA63-7828-5449-3DF0448A0BAB}"/>
              </a:ext>
            </a:extLst>
          </p:cNvPr>
          <p:cNvSpPr/>
          <p:nvPr/>
        </p:nvSpPr>
        <p:spPr>
          <a:xfrm>
            <a:off x="2987227" y="1566847"/>
            <a:ext cx="1903459" cy="1653091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56,5</a:t>
            </a:r>
            <a:endParaRPr lang="es-CO" sz="36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C2F144F-8F2F-EB91-79AF-3010A092BE0A}"/>
              </a:ext>
            </a:extLst>
          </p:cNvPr>
          <p:cNvSpPr txBox="1"/>
          <p:nvPr/>
        </p:nvSpPr>
        <p:spPr>
          <a:xfrm>
            <a:off x="435658" y="48398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787A1F9-CA5E-ABEE-5E06-44870C68883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B05995-30B2-460C-9CF6-41DB83FD9681}"/>
              </a:ext>
            </a:extLst>
          </p:cNvPr>
          <p:cNvSpPr/>
          <p:nvPr/>
        </p:nvSpPr>
        <p:spPr>
          <a:xfrm>
            <a:off x="5590901" y="1651575"/>
            <a:ext cx="2762245" cy="2310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Donec quam felis, ultricies nec pellentesque eu,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 pretium quis,  sem. Nulla consequat massa quis enim. Donec pede justo, fringilla vel, aliquet nec, vulputate.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Lorem</a:t>
            </a:r>
            <a:r>
              <a:rPr lang="es-MX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. 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Maecenas nec odio et ante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tincidunt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Nulla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consequat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massa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quis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enim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.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Donec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pede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justo,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fringilla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vel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aliquet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nec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, </a:t>
            </a:r>
            <a:r>
              <a:rPr lang="es-MX" sz="1200" dirty="0" err="1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vulputate</a:t>
            </a:r>
            <a:r>
              <a:rPr lang="es-MX" sz="1200" dirty="0">
                <a:solidFill>
                  <a:schemeClr val="tx1">
                    <a:lumMod val="95000"/>
                    <a:lumOff val="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608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8D83A54-6D2C-40EC-B8E2-137E63F2AC04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10" name="object 553">
            <a:extLst>
              <a:ext uri="{FF2B5EF4-FFF2-40B4-BE49-F238E27FC236}">
                <a16:creationId xmlns:a16="http://schemas.microsoft.com/office/drawing/2014/main" id="{49747EED-F13B-4154-81B6-0121A05DD0D4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1343CE5-2AE9-48BC-9436-A037C4474706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50331B-6FD7-4EA0-9B76-F2B7F7B8EBB9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5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D878B30-6330-ED9D-6091-B018F84E1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519856"/>
              </p:ext>
            </p:extLst>
          </p:nvPr>
        </p:nvGraphicFramePr>
        <p:xfrm>
          <a:off x="490957" y="1429550"/>
          <a:ext cx="8186319" cy="2923375"/>
        </p:xfrm>
        <a:graphic>
          <a:graphicData uri="http://schemas.openxmlformats.org/drawingml/2006/table">
            <a:tbl>
              <a:tblPr/>
              <a:tblGrid>
                <a:gridCol w="1009430">
                  <a:extLst>
                    <a:ext uri="{9D8B030D-6E8A-4147-A177-3AD203B41FA5}">
                      <a16:colId xmlns:a16="http://schemas.microsoft.com/office/drawing/2014/main" val="1400388587"/>
                    </a:ext>
                  </a:extLst>
                </a:gridCol>
                <a:gridCol w="1758856">
                  <a:extLst>
                    <a:ext uri="{9D8B030D-6E8A-4147-A177-3AD203B41FA5}">
                      <a16:colId xmlns:a16="http://schemas.microsoft.com/office/drawing/2014/main" val="2197488547"/>
                    </a:ext>
                  </a:extLst>
                </a:gridCol>
                <a:gridCol w="1605911">
                  <a:extLst>
                    <a:ext uri="{9D8B030D-6E8A-4147-A177-3AD203B41FA5}">
                      <a16:colId xmlns:a16="http://schemas.microsoft.com/office/drawing/2014/main" val="2954190175"/>
                    </a:ext>
                  </a:extLst>
                </a:gridCol>
                <a:gridCol w="1850619">
                  <a:extLst>
                    <a:ext uri="{9D8B030D-6E8A-4147-A177-3AD203B41FA5}">
                      <a16:colId xmlns:a16="http://schemas.microsoft.com/office/drawing/2014/main" val="2332911129"/>
                    </a:ext>
                  </a:extLst>
                </a:gridCol>
                <a:gridCol w="1961503">
                  <a:extLst>
                    <a:ext uri="{9D8B030D-6E8A-4147-A177-3AD203B41FA5}">
                      <a16:colId xmlns:a16="http://schemas.microsoft.com/office/drawing/2014/main" val="4273883934"/>
                    </a:ext>
                  </a:extLst>
                </a:gridCol>
              </a:tblGrid>
              <a:tr h="110127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CO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784136"/>
                  </a:ext>
                </a:extLst>
              </a:tr>
              <a:tr h="640740"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s-CO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(%)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2A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2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439383"/>
                  </a:ext>
                </a:extLst>
              </a:tr>
              <a:tr h="6407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050" b="1" i="0" u="none" strike="noStrike" dirty="0">
                          <a:solidFill>
                            <a:srgbClr val="B6004B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1" i="0" u="none" strike="noStrike" dirty="0">
                        <a:solidFill>
                          <a:srgbClr val="B6004B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831123"/>
                  </a:ext>
                </a:extLst>
              </a:tr>
              <a:tr h="5406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i="0" u="none" strike="noStrike" kern="1200" dirty="0">
                          <a:solidFill>
                            <a:srgbClr val="B6004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0" i="0" u="none" strike="noStrike" dirty="0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029250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8A5DB17F-4C9F-65E6-9386-5DD5DE34553F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072CECF-A775-8D00-75C0-2A51F891EADB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DE41D97A-E632-B6ED-9947-176E5B2C6F84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0170-4DDF-60FD-F44C-EFDDA4D0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A557213-5EED-425C-90D1-9DABAB24992E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10" name="object 553">
            <a:extLst>
              <a:ext uri="{FF2B5EF4-FFF2-40B4-BE49-F238E27FC236}">
                <a16:creationId xmlns:a16="http://schemas.microsoft.com/office/drawing/2014/main" id="{93405C2B-01DD-C8FA-6446-401FA33DE6E2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5724126-BB55-E970-53AA-512021EAEC34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93BF811-ACD0-A13B-AAD7-CFFA01546CB9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2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5FE631-E54C-AD8B-AA00-356D5A7D2201}"/>
              </a:ext>
            </a:extLst>
          </p:cNvPr>
          <p:cNvSpPr txBox="1"/>
          <p:nvPr/>
        </p:nvSpPr>
        <p:spPr>
          <a:xfrm>
            <a:off x="422238" y="1952998"/>
            <a:ext cx="3876224" cy="21028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quam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felis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ultricies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pellentesque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eu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pretium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quis,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sem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04F2C99-CA63-C952-CB0C-D72FA798647E}"/>
              </a:ext>
            </a:extLst>
          </p:cNvPr>
          <p:cNvSpPr txBox="1"/>
          <p:nvPr/>
        </p:nvSpPr>
        <p:spPr>
          <a:xfrm>
            <a:off x="422238" y="163978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Lorem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 </a:t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ipsum</a:t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8CBC72-92DF-9523-3660-94881BE7C2E1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F19A9757-2DEC-83AA-39EC-1EE62FE8BA69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85D2B80-5D8B-2B39-0321-807167672F1D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57B8B7A7-1F1F-4332-A805-5C2AD4FD755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0522" r="19171"/>
          <a:stretch/>
        </p:blipFill>
        <p:spPr>
          <a:xfrm>
            <a:off x="5324400" y="1465395"/>
            <a:ext cx="2880000" cy="288000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FEA6F5B1-EB35-4F23-B70E-960EB4DBDE8B}"/>
              </a:ext>
            </a:extLst>
          </p:cNvPr>
          <p:cNvSpPr txBox="1"/>
          <p:nvPr/>
        </p:nvSpPr>
        <p:spPr>
          <a:xfrm>
            <a:off x="5435992" y="1591306"/>
            <a:ext cx="1328408" cy="5678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Espacio para imagen (reemplazar)</a:t>
            </a:r>
          </a:p>
        </p:txBody>
      </p:sp>
    </p:spTree>
    <p:extLst>
      <p:ext uri="{BB962C8B-B14F-4D97-AF65-F5344CB8AC3E}">
        <p14:creationId xmlns:p14="http://schemas.microsoft.com/office/powerpoint/2010/main" val="97715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9C551-DD07-4D29-B2FF-4D1DDF37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A4D1501-1BA3-43B4-9F83-622E46EBC165}"/>
              </a:ext>
            </a:extLst>
          </p:cNvPr>
          <p:cNvSpPr/>
          <p:nvPr/>
        </p:nvSpPr>
        <p:spPr>
          <a:xfrm>
            <a:off x="-137159" y="2832928"/>
            <a:ext cx="1955474" cy="377876"/>
          </a:xfrm>
          <a:prstGeom prst="rect">
            <a:avLst/>
          </a:prstGeom>
          <a:solidFill>
            <a:schemeClr val="bg1">
              <a:lumMod val="85000"/>
              <a:alpha val="22000"/>
            </a:schemeClr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18498C9-A31F-4BF3-B188-5FE71D928E9F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33FC7DB9-F9D3-411F-9E6A-4BFE2848BDFA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431B68F-F3AE-4AA7-A76F-73A3E55FD9D7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EB52E974-CB02-42E1-ACBE-2665EC08F9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4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2782616-CC18-5C58-DD40-7FA20ACFB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3553"/>
              </p:ext>
            </p:extLst>
          </p:nvPr>
        </p:nvGraphicFramePr>
        <p:xfrm>
          <a:off x="474388" y="1394442"/>
          <a:ext cx="8380440" cy="1752464"/>
        </p:xfrm>
        <a:graphic>
          <a:graphicData uri="http://schemas.openxmlformats.org/drawingml/2006/table">
            <a:tbl>
              <a:tblPr/>
              <a:tblGrid>
                <a:gridCol w="558132">
                  <a:extLst>
                    <a:ext uri="{9D8B030D-6E8A-4147-A177-3AD203B41FA5}">
                      <a16:colId xmlns:a16="http://schemas.microsoft.com/office/drawing/2014/main" val="3554778683"/>
                    </a:ext>
                  </a:extLst>
                </a:gridCol>
                <a:gridCol w="1023243">
                  <a:extLst>
                    <a:ext uri="{9D8B030D-6E8A-4147-A177-3AD203B41FA5}">
                      <a16:colId xmlns:a16="http://schemas.microsoft.com/office/drawing/2014/main" val="1192975769"/>
                    </a:ext>
                  </a:extLst>
                </a:gridCol>
                <a:gridCol w="887937">
                  <a:extLst>
                    <a:ext uri="{9D8B030D-6E8A-4147-A177-3AD203B41FA5}">
                      <a16:colId xmlns:a16="http://schemas.microsoft.com/office/drawing/2014/main" val="3202732638"/>
                    </a:ext>
                  </a:extLst>
                </a:gridCol>
                <a:gridCol w="983074">
                  <a:extLst>
                    <a:ext uri="{9D8B030D-6E8A-4147-A177-3AD203B41FA5}">
                      <a16:colId xmlns:a16="http://schemas.microsoft.com/office/drawing/2014/main" val="3627757326"/>
                    </a:ext>
                  </a:extLst>
                </a:gridCol>
                <a:gridCol w="828106">
                  <a:extLst>
                    <a:ext uri="{9D8B030D-6E8A-4147-A177-3AD203B41FA5}">
                      <a16:colId xmlns:a16="http://schemas.microsoft.com/office/drawing/2014/main" val="1662216610"/>
                    </a:ext>
                  </a:extLst>
                </a:gridCol>
                <a:gridCol w="998508">
                  <a:extLst>
                    <a:ext uri="{9D8B030D-6E8A-4147-A177-3AD203B41FA5}">
                      <a16:colId xmlns:a16="http://schemas.microsoft.com/office/drawing/2014/main" val="2553174027"/>
                    </a:ext>
                  </a:extLst>
                </a:gridCol>
                <a:gridCol w="1084553">
                  <a:extLst>
                    <a:ext uri="{9D8B030D-6E8A-4147-A177-3AD203B41FA5}">
                      <a16:colId xmlns:a16="http://schemas.microsoft.com/office/drawing/2014/main" val="2595027529"/>
                    </a:ext>
                  </a:extLst>
                </a:gridCol>
                <a:gridCol w="957704">
                  <a:extLst>
                    <a:ext uri="{9D8B030D-6E8A-4147-A177-3AD203B41FA5}">
                      <a16:colId xmlns:a16="http://schemas.microsoft.com/office/drawing/2014/main" val="2245341475"/>
                    </a:ext>
                  </a:extLst>
                </a:gridCol>
                <a:gridCol w="1059183">
                  <a:extLst>
                    <a:ext uri="{9D8B030D-6E8A-4147-A177-3AD203B41FA5}">
                      <a16:colId xmlns:a16="http://schemas.microsoft.com/office/drawing/2014/main" val="539006116"/>
                    </a:ext>
                  </a:extLst>
                </a:gridCol>
              </a:tblGrid>
              <a:tr h="38808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s-ES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ES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40528"/>
                  </a:ext>
                </a:extLst>
              </a:tr>
              <a:tr h="26225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18024"/>
                  </a:ext>
                </a:extLst>
              </a:tr>
              <a:tr h="28880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975" marR="5975" marT="5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A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773362"/>
                  </a:ext>
                </a:extLst>
              </a:tr>
              <a:tr h="2888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33780"/>
                  </a:ext>
                </a:extLst>
              </a:tr>
              <a:tr h="2622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7858"/>
                  </a:ext>
                </a:extLst>
              </a:tr>
              <a:tr h="26225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60186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35EBD86-D512-8A37-2776-78A17579B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809193"/>
              </p:ext>
            </p:extLst>
          </p:nvPr>
        </p:nvGraphicFramePr>
        <p:xfrm>
          <a:off x="474387" y="3346980"/>
          <a:ext cx="4216663" cy="1087857"/>
        </p:xfrm>
        <a:graphic>
          <a:graphicData uri="http://schemas.openxmlformats.org/drawingml/2006/table">
            <a:tbl>
              <a:tblPr/>
              <a:tblGrid>
                <a:gridCol w="2215536">
                  <a:extLst>
                    <a:ext uri="{9D8B030D-6E8A-4147-A177-3AD203B41FA5}">
                      <a16:colId xmlns:a16="http://schemas.microsoft.com/office/drawing/2014/main" val="534419068"/>
                    </a:ext>
                  </a:extLst>
                </a:gridCol>
                <a:gridCol w="2001127">
                  <a:extLst>
                    <a:ext uri="{9D8B030D-6E8A-4147-A177-3AD203B41FA5}">
                      <a16:colId xmlns:a16="http://schemas.microsoft.com/office/drawing/2014/main" val="169603001"/>
                    </a:ext>
                  </a:extLst>
                </a:gridCol>
              </a:tblGrid>
              <a:tr h="3727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872974"/>
                  </a:ext>
                </a:extLst>
              </a:tr>
              <a:tr h="34244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rgbClr val="B6004B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B6004B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rgbClr val="B6004B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B6004B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522683"/>
                  </a:ext>
                </a:extLst>
              </a:tr>
              <a:tr h="372706"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33396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CF156A44-2352-930F-7E83-3E482FF7A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814885"/>
              </p:ext>
            </p:extLst>
          </p:nvPr>
        </p:nvGraphicFramePr>
        <p:xfrm>
          <a:off x="4813663" y="3346980"/>
          <a:ext cx="4041165" cy="1087858"/>
        </p:xfrm>
        <a:graphic>
          <a:graphicData uri="http://schemas.openxmlformats.org/drawingml/2006/table">
            <a:tbl>
              <a:tblPr/>
              <a:tblGrid>
                <a:gridCol w="1918918">
                  <a:extLst>
                    <a:ext uri="{9D8B030D-6E8A-4147-A177-3AD203B41FA5}">
                      <a16:colId xmlns:a16="http://schemas.microsoft.com/office/drawing/2014/main" val="4144700097"/>
                    </a:ext>
                  </a:extLst>
                </a:gridCol>
                <a:gridCol w="2122247">
                  <a:extLst>
                    <a:ext uri="{9D8B030D-6E8A-4147-A177-3AD203B41FA5}">
                      <a16:colId xmlns:a16="http://schemas.microsoft.com/office/drawing/2014/main" val="3209173097"/>
                    </a:ext>
                  </a:extLst>
                </a:gridCol>
              </a:tblGrid>
              <a:tr h="389234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115464"/>
                  </a:ext>
                </a:extLst>
              </a:tr>
              <a:tr h="309390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rgbClr val="B6004B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B6004B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rgbClr val="B6004B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B6004B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17570"/>
                  </a:ext>
                </a:extLst>
              </a:tr>
              <a:tr h="389234"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88346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708D8872-FACF-35D4-98D8-1BAE71E9A428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8659A55-6F53-23A6-4F72-C62CF7D53A20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CF98DA-53C0-4939-149C-6D4E1AD5C30C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16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53153-31D9-27B4-7C5A-2C08A22A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08206637-C7A6-7D7F-27CC-2A7279D4BDD8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10" name="object 553">
            <a:extLst>
              <a:ext uri="{FF2B5EF4-FFF2-40B4-BE49-F238E27FC236}">
                <a16:creationId xmlns:a16="http://schemas.microsoft.com/office/drawing/2014/main" id="{1E7D751E-0406-A0B6-674F-DDC2963302B5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D6C3C0F-5DEE-0EB4-C3CA-77DA51330CF3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B77F84-5259-8081-C3DF-05F5881413E1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21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04D263-52A2-DC5C-3938-3BBD13A4D6A2}"/>
              </a:ext>
            </a:extLst>
          </p:cNvPr>
          <p:cNvSpPr txBox="1"/>
          <p:nvPr/>
        </p:nvSpPr>
        <p:spPr>
          <a:xfrm>
            <a:off x="4978605" y="1728713"/>
            <a:ext cx="3876224" cy="21028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quam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felis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ultricies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pellentesque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eu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pretium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quis,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sem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EF0ADC1-97BD-EC1B-2012-1FB0064B366B}"/>
              </a:ext>
            </a:extLst>
          </p:cNvPr>
          <p:cNvSpPr txBox="1"/>
          <p:nvPr/>
        </p:nvSpPr>
        <p:spPr>
          <a:xfrm>
            <a:off x="4978605" y="1416177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Lorem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 </a:t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ipsum</a:t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CE785D5-53B5-DCCF-0068-2978301427EF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C3F333A-8E2F-C1A1-C752-ADBFEDBF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8859"/>
              </p:ext>
            </p:extLst>
          </p:nvPr>
        </p:nvGraphicFramePr>
        <p:xfrm>
          <a:off x="474388" y="1394442"/>
          <a:ext cx="4097612" cy="2937287"/>
        </p:xfrm>
        <a:graphic>
          <a:graphicData uri="http://schemas.openxmlformats.org/drawingml/2006/table">
            <a:tbl>
              <a:tblPr/>
              <a:tblGrid>
                <a:gridCol w="534286">
                  <a:extLst>
                    <a:ext uri="{9D8B030D-6E8A-4147-A177-3AD203B41FA5}">
                      <a16:colId xmlns:a16="http://schemas.microsoft.com/office/drawing/2014/main" val="3554778683"/>
                    </a:ext>
                  </a:extLst>
                </a:gridCol>
                <a:gridCol w="979526">
                  <a:extLst>
                    <a:ext uri="{9D8B030D-6E8A-4147-A177-3AD203B41FA5}">
                      <a16:colId xmlns:a16="http://schemas.microsoft.com/office/drawing/2014/main" val="1192975769"/>
                    </a:ext>
                  </a:extLst>
                </a:gridCol>
                <a:gridCol w="850001">
                  <a:extLst>
                    <a:ext uri="{9D8B030D-6E8A-4147-A177-3AD203B41FA5}">
                      <a16:colId xmlns:a16="http://schemas.microsoft.com/office/drawing/2014/main" val="3202732638"/>
                    </a:ext>
                  </a:extLst>
                </a:gridCol>
                <a:gridCol w="941073">
                  <a:extLst>
                    <a:ext uri="{9D8B030D-6E8A-4147-A177-3AD203B41FA5}">
                      <a16:colId xmlns:a16="http://schemas.microsoft.com/office/drawing/2014/main" val="3627757326"/>
                    </a:ext>
                  </a:extLst>
                </a:gridCol>
                <a:gridCol w="792726">
                  <a:extLst>
                    <a:ext uri="{9D8B030D-6E8A-4147-A177-3AD203B41FA5}">
                      <a16:colId xmlns:a16="http://schemas.microsoft.com/office/drawing/2014/main" val="1662216610"/>
                    </a:ext>
                  </a:extLst>
                </a:gridCol>
              </a:tblGrid>
              <a:tr h="65046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004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40528"/>
                  </a:ext>
                </a:extLst>
              </a:tr>
              <a:tr h="4395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18024"/>
                  </a:ext>
                </a:extLst>
              </a:tr>
              <a:tr h="4840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975" marR="5975" marT="5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2A4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800" b="1" i="0" u="none" strike="noStrik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773362"/>
                  </a:ext>
                </a:extLst>
              </a:tr>
              <a:tr h="48407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33780"/>
                  </a:ext>
                </a:extLst>
              </a:tr>
              <a:tr h="43956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7858"/>
                  </a:ext>
                </a:extLst>
              </a:tr>
              <a:tr h="43956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262626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262626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0" i="0" u="none" strike="noStrike" dirty="0" err="1">
                          <a:solidFill>
                            <a:srgbClr val="40404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0" i="0" u="none" strike="noStrike" dirty="0">
                        <a:solidFill>
                          <a:srgbClr val="40404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xx</a:t>
                      </a:r>
                      <a:endParaRPr lang="es-CO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75" marR="5975" marT="5975" marB="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60186"/>
                  </a:ext>
                </a:extLst>
              </a:tr>
            </a:tbl>
          </a:graphicData>
        </a:graphic>
      </p:graphicFrame>
      <p:sp>
        <p:nvSpPr>
          <p:cNvPr id="9" name="object 2">
            <a:extLst>
              <a:ext uri="{FF2B5EF4-FFF2-40B4-BE49-F238E27FC236}">
                <a16:creationId xmlns:a16="http://schemas.microsoft.com/office/drawing/2014/main" id="{11DF4DA5-307E-1674-8635-1CD617BC49B9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8328569-EFF9-612B-A6B9-78FAA2113631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89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C4B05592-9E8D-4F2A-B96B-7C64D42ED4B4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9" name="object 553">
            <a:extLst>
              <a:ext uri="{FF2B5EF4-FFF2-40B4-BE49-F238E27FC236}">
                <a16:creationId xmlns:a16="http://schemas.microsoft.com/office/drawing/2014/main" id="{A72F3738-0036-4209-9E09-F273E5770E15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FACE859-92FC-4E65-B5D3-3F0FDC0BA519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41599FB-1AAD-4A5B-A53C-BAB269FB1738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D273E45-F2E2-D985-DB3E-B29D58C867CA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8518BEC2-258C-3B46-42EE-01E91BFACF79}"/>
              </a:ext>
            </a:extLst>
          </p:cNvPr>
          <p:cNvSpPr txBox="1"/>
          <p:nvPr/>
        </p:nvSpPr>
        <p:spPr>
          <a:xfrm>
            <a:off x="435658" y="1918505"/>
            <a:ext cx="338776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quam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felis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ultricies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pellentesque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eu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pretium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quis,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sem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95E7766-22A1-880F-3006-861EA3802F76}"/>
              </a:ext>
            </a:extLst>
          </p:cNvPr>
          <p:cNvSpPr txBox="1"/>
          <p:nvPr/>
        </p:nvSpPr>
        <p:spPr>
          <a:xfrm>
            <a:off x="435658" y="148520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Lorem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 </a:t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ipsum</a:t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8615933-B702-6A69-3856-929A9100C372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1B7BFE6-9E99-AF47-DE99-D16CA1074E99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17 Grupo">
            <a:extLst>
              <a:ext uri="{FF2B5EF4-FFF2-40B4-BE49-F238E27FC236}">
                <a16:creationId xmlns:a16="http://schemas.microsoft.com/office/drawing/2014/main" id="{C6566264-32CE-4098-BC59-1870FE14342C}"/>
              </a:ext>
            </a:extLst>
          </p:cNvPr>
          <p:cNvGrpSpPr/>
          <p:nvPr/>
        </p:nvGrpSpPr>
        <p:grpSpPr>
          <a:xfrm>
            <a:off x="5019510" y="951105"/>
            <a:ext cx="2885798" cy="3776092"/>
            <a:chOff x="4474423" y="304370"/>
            <a:chExt cx="3595448" cy="4733925"/>
          </a:xfrm>
        </p:grpSpPr>
        <p:pic>
          <p:nvPicPr>
            <p:cNvPr id="12" name="Imagen 9">
              <a:extLst>
                <a:ext uri="{FF2B5EF4-FFF2-40B4-BE49-F238E27FC236}">
                  <a16:creationId xmlns:a16="http://schemas.microsoft.com/office/drawing/2014/main" id="{1D2AB146-64A5-4B74-8D89-8BA8A26A5B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94" b="2916"/>
            <a:stretch/>
          </p:blipFill>
          <p:spPr>
            <a:xfrm>
              <a:off x="4474423" y="304370"/>
              <a:ext cx="3595448" cy="4733925"/>
            </a:xfrm>
            <a:prstGeom prst="rect">
              <a:avLst/>
            </a:prstGeom>
          </p:spPr>
        </p:pic>
        <p:sp>
          <p:nvSpPr>
            <p:cNvPr id="13" name="Rectángulo 21">
              <a:extLst>
                <a:ext uri="{FF2B5EF4-FFF2-40B4-BE49-F238E27FC236}">
                  <a16:creationId xmlns:a16="http://schemas.microsoft.com/office/drawing/2014/main" id="{0182E55B-F674-46B8-A4AB-95B14C023E3B}"/>
                </a:ext>
              </a:extLst>
            </p:cNvPr>
            <p:cNvSpPr/>
            <p:nvPr/>
          </p:nvSpPr>
          <p:spPr>
            <a:xfrm>
              <a:off x="6858692" y="798185"/>
              <a:ext cx="1211179" cy="792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270000" dist="23000" dir="5400000" sx="200000" sy="200000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50975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743-38F2-C6E9-ED9B-4C63003A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6B88CED-DA3F-F1A8-90D4-6A6EBC38129D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C59F6B02-870F-D509-54A7-45590C82E42E}"/>
              </a:ext>
            </a:extLst>
          </p:cNvPr>
          <p:cNvSpPr txBox="1"/>
          <p:nvPr/>
        </p:nvSpPr>
        <p:spPr>
          <a:xfrm>
            <a:off x="422238" y="1840855"/>
            <a:ext cx="336871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quam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felis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ultricies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pellentesque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eu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pretium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quis, 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sem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Lorem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Maecenas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odio et ante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tincidunt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Nulla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consequat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massa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quis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enim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pede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justo,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fringilla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vel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aliquet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nec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, </a:t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vulputate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5A627A7-A7D0-70FD-09C8-6B33FB3C02BE}"/>
              </a:ext>
            </a:extLst>
          </p:cNvPr>
          <p:cNvSpPr txBox="1"/>
          <p:nvPr/>
        </p:nvSpPr>
        <p:spPr>
          <a:xfrm>
            <a:off x="422238" y="140755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Lorem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 </a:t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ipsum</a:t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5144A3C-3123-08F0-9CB0-CC55F02BAAE7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AED45DE-7BFF-ADDD-BCFF-F7D6038D521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9B9C43-FB85-474A-B274-DB23B4993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6727" y="1525274"/>
            <a:ext cx="4317274" cy="2836349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940D349E-3D88-4AEA-BC2A-ABBF4C61E1CB}"/>
              </a:ext>
            </a:extLst>
          </p:cNvPr>
          <p:cNvSpPr txBox="1"/>
          <p:nvPr/>
        </p:nvSpPr>
        <p:spPr>
          <a:xfrm>
            <a:off x="4976821" y="1655320"/>
            <a:ext cx="1328408" cy="5678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>Espacio para imagen (reemplazar)</a:t>
            </a:r>
          </a:p>
        </p:txBody>
      </p:sp>
    </p:spTree>
    <p:extLst>
      <p:ext uri="{BB962C8B-B14F-4D97-AF65-F5344CB8AC3E}">
        <p14:creationId xmlns:p14="http://schemas.microsoft.com/office/powerpoint/2010/main" val="120175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C15B2DB-2835-4F28-98C6-2D5651CB6331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Subtítulo</a:t>
            </a:r>
          </a:p>
        </p:txBody>
      </p:sp>
      <p:sp>
        <p:nvSpPr>
          <p:cNvPr id="10" name="object 553">
            <a:extLst>
              <a:ext uri="{FF2B5EF4-FFF2-40B4-BE49-F238E27FC236}">
                <a16:creationId xmlns:a16="http://schemas.microsoft.com/office/drawing/2014/main" id="{19B191BA-F31C-4CA6-B3AF-AA77DE5BB2A9}"/>
              </a:ext>
            </a:extLst>
          </p:cNvPr>
          <p:cNvSpPr txBox="1">
            <a:spLocks/>
          </p:cNvSpPr>
          <p:nvPr/>
        </p:nvSpPr>
        <p:spPr>
          <a:xfrm>
            <a:off x="640080" y="163978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Título 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temática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311AB1-49D9-4B4E-B583-5A9F30313DCA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13964A-6DBE-4898-A51C-858831CE28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Fecha 2025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6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F12A0710-69F7-18D1-C338-C16677F5BFED}"/>
              </a:ext>
            </a:extLst>
          </p:cNvPr>
          <p:cNvSpPr/>
          <p:nvPr/>
        </p:nvSpPr>
        <p:spPr>
          <a:xfrm>
            <a:off x="435658" y="4634909"/>
            <a:ext cx="8419171" cy="31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s-ES" sz="700" b="1" dirty="0">
                <a:latin typeface="+mj-lt"/>
                <a:cs typeface="Segoe UI" panose="020B0502040204020203" pitchFamily="34" charset="0"/>
              </a:rPr>
              <a:t>* </a:t>
            </a:r>
            <a:r>
              <a:rPr lang="es-ES" sz="700" dirty="0">
                <a:latin typeface="+mj-lt"/>
                <a:cs typeface="Segoe UI" panose="020B0502040204020203" pitchFamily="34" charset="0"/>
              </a:rPr>
              <a:t>Variación estadísticamente significativa.</a:t>
            </a:r>
            <a:endParaRPr lang="es-ES" sz="700" b="1" dirty="0">
              <a:latin typeface="+mj-lt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CO" sz="7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Fuente: </a:t>
            </a:r>
            <a:r>
              <a:rPr lang="es-ES" sz="7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xxxxxx</a:t>
            </a:r>
            <a:endParaRPr lang="es-CO" sz="7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376A603-EC15-A3D2-6E87-9CF2317C34DA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Contenido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Subtitulo 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Fecha (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 – 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xxxx</a:t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)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C57D1EF-CEE3-FA9E-35CB-8917760319BC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2 Gráfico">
            <a:extLst>
              <a:ext uri="{FF2B5EF4-FFF2-40B4-BE49-F238E27FC236}">
                <a16:creationId xmlns:a16="http://schemas.microsoft.com/office/drawing/2014/main" id="{329D4B02-D65C-479F-925A-019345E5A8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7405908"/>
              </p:ext>
            </p:extLst>
          </p:nvPr>
        </p:nvGraphicFramePr>
        <p:xfrm>
          <a:off x="435658" y="1433859"/>
          <a:ext cx="8380681" cy="3233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3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53">
            <a:extLst>
              <a:ext uri="{FF2B5EF4-FFF2-40B4-BE49-F238E27FC236}">
                <a16:creationId xmlns:a16="http://schemas.microsoft.com/office/drawing/2014/main" id="{B8D46D3A-C3F4-48A5-AA8F-1AB73DFAD2C8}"/>
              </a:ext>
            </a:extLst>
          </p:cNvPr>
          <p:cNvSpPr txBox="1">
            <a:spLocks/>
          </p:cNvSpPr>
          <p:nvPr/>
        </p:nvSpPr>
        <p:spPr>
          <a:xfrm>
            <a:off x="452208" y="1571591"/>
            <a:ext cx="3267737" cy="816762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Plantilla 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general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288A9B0-E563-4E62-BAA5-5EEDAA75A06F}"/>
              </a:ext>
            </a:extLst>
          </p:cNvPr>
          <p:cNvCxnSpPr>
            <a:cxnSpLocks/>
          </p:cNvCxnSpPr>
          <p:nvPr/>
        </p:nvCxnSpPr>
        <p:spPr>
          <a:xfrm flipH="1">
            <a:off x="452208" y="2506245"/>
            <a:ext cx="2016672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88AECA-DDFA-4D4C-918D-FBA3B2BBFD5F}"/>
              </a:ext>
            </a:extLst>
          </p:cNvPr>
          <p:cNvSpPr/>
          <p:nvPr/>
        </p:nvSpPr>
        <p:spPr>
          <a:xfrm>
            <a:off x="341446" y="2703265"/>
            <a:ext cx="18277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4C0425"/>
                </a:solidFill>
                <a:effectLst/>
                <a:uLnTx/>
                <a:uFillTx/>
                <a:latin typeface="Segoe UI"/>
                <a:cs typeface="Arial"/>
                <a:sym typeface="Arial"/>
              </a:rPr>
              <a:t>Subtítulo</a:t>
            </a:r>
            <a:endParaRPr kumimoji="0" lang="es-CO" sz="3200" b="0" i="0" u="none" strike="noStrike" kern="0" cap="none" spc="0" normalizeH="0" baseline="0" noProof="0" dirty="0">
              <a:ln>
                <a:noFill/>
              </a:ln>
              <a:solidFill>
                <a:srgbClr val="4C0425"/>
              </a:solidFill>
              <a:effectLst/>
              <a:uLnTx/>
              <a:uFillTx/>
              <a:latin typeface="Segoe UI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6816B4-AA15-472F-86BE-8668D5C9C72D}"/>
              </a:ext>
            </a:extLst>
          </p:cNvPr>
          <p:cNvSpPr txBox="1"/>
          <p:nvPr/>
        </p:nvSpPr>
        <p:spPr>
          <a:xfrm>
            <a:off x="387166" y="3485059"/>
            <a:ext cx="2818808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400" b="1" kern="0" dirty="0">
                <a:solidFill>
                  <a:srgbClr val="70002D"/>
                </a:solidFill>
                <a:latin typeface="Segoe UI"/>
                <a:ea typeface="Roboto Medium" panose="02000000000000000000" pitchFamily="2" charset="0"/>
                <a:cs typeface="Arial"/>
                <a:sym typeface="Arial"/>
              </a:rPr>
              <a:t>Fecha 2025</a:t>
            </a:r>
            <a:endParaRPr kumimoji="0" lang="es-CO" sz="1400" b="1" i="0" u="none" strike="noStrike" kern="0" cap="none" spc="0" normalizeH="0" baseline="0" noProof="0" dirty="0">
              <a:ln>
                <a:noFill/>
              </a:ln>
              <a:solidFill>
                <a:srgbClr val="70002D"/>
              </a:solidFill>
              <a:effectLst/>
              <a:uLnTx/>
              <a:uFillTx/>
              <a:latin typeface="Segoe UI"/>
              <a:ea typeface="Roboto Medium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4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" val="{&quot;SavedSwatch&quot;:&quot;-16748873|-8341960|-3468525|-2064878|-9539986|Markido&quot;,&quot;Id&quot;:&quot;6245e20532323505c0772813&quot;,&quot;SmartGridHorizontal&quot;:0,&quot;LinkedExcelSources&quot;:{},&quot;LinkedProjectSources&quot;:{},&quot;FlowConfig&quot;:{&quot;Canvas&quot;:{&quot;Slide&quot;:-1,&quot;Width&quot;:0,&quot;Height&quot;:0},&quot;Timeline&quot;:{&quot;Actions&quot;:[]}},&quot;LinkedSlideMergeSources&quot;:{},&quot;LinkedSharePointSlideMergeSources&quot;:{}}"/>
</p:tagLst>
</file>

<file path=ppt/theme/theme1.xml><?xml version="1.0" encoding="utf-8"?>
<a:theme xmlns:a="http://schemas.openxmlformats.org/drawingml/2006/main" name="17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8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6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1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10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20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2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36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3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5.xml><?xml version="1.0" encoding="utf-8"?>
<a:theme xmlns:a="http://schemas.openxmlformats.org/drawingml/2006/main" name="2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6.xml><?xml version="1.0" encoding="utf-8"?>
<a:theme xmlns:a="http://schemas.openxmlformats.org/drawingml/2006/main" name="35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37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38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841f3fa-9ef8-4e95-9162-d8f0c2a8a625">
      <UserInfo>
        <DisplayName>Ricardo Valencia Ramirez</DisplayName>
        <AccountId>17</AccountId>
        <AccountType/>
      </UserInfo>
      <UserInfo>
        <DisplayName>Luis Eduardo Gonzalez Lozano</DisplayName>
        <AccountId>7</AccountId>
        <AccountType/>
      </UserInfo>
      <UserInfo>
        <DisplayName>Ella Nancy Cardenas Rincon</DisplayName>
        <AccountId>42</AccountId>
        <AccountType/>
      </UserInfo>
      <UserInfo>
        <DisplayName>Juliana Paola Forero Larrotta</DisplayName>
        <AccountId>43</AccountId>
        <AccountType/>
      </UserInfo>
      <UserInfo>
        <DisplayName>Julieth Carolina Villamil Monroy</DisplayName>
        <AccountId>47</AccountId>
        <AccountType/>
      </UserInfo>
    </SharedWithUsers>
    <lcf76f155ced4ddcb4097134ff3c332f xmlns="48190eb6-8e6e-4223-a66e-2e079989e3d0">
      <Terms xmlns="http://schemas.microsoft.com/office/infopath/2007/PartnerControls"/>
    </lcf76f155ced4ddcb4097134ff3c332f>
    <TaxCatchAll xmlns="b841f3fa-9ef8-4e95-9162-d8f0c2a8a6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1B0C79EC65C64C8028616C896BAA13" ma:contentTypeVersion="15" ma:contentTypeDescription="Crear nuevo documento." ma:contentTypeScope="" ma:versionID="12716d1a12d65b5c1618f4145b30b094">
  <xsd:schema xmlns:xsd="http://www.w3.org/2001/XMLSchema" xmlns:xs="http://www.w3.org/2001/XMLSchema" xmlns:p="http://schemas.microsoft.com/office/2006/metadata/properties" xmlns:ns2="48190eb6-8e6e-4223-a66e-2e079989e3d0" xmlns:ns3="b841f3fa-9ef8-4e95-9162-d8f0c2a8a625" targetNamespace="http://schemas.microsoft.com/office/2006/metadata/properties" ma:root="true" ma:fieldsID="9bab6d5d82db4d1fe2b49dae0f3a407c" ns2:_="" ns3:_="">
    <xsd:import namespace="48190eb6-8e6e-4223-a66e-2e079989e3d0"/>
    <xsd:import namespace="b841f3fa-9ef8-4e95-9162-d8f0c2a8a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190eb6-8e6e-4223-a66e-2e079989e3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a9b580d-3441-472b-b633-05114d4a3d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1f3fa-9ef8-4e95-9162-d8f0c2a8a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854f2426-c973-4890-a512-a6fbe72ad6ef}" ma:internalName="TaxCatchAll" ma:showField="CatchAllData" ma:web="b841f3fa-9ef8-4e95-9162-d8f0c2a8a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186183-7A83-4EA4-925C-BBE59EB647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091BFB-87A1-4A0B-B0D6-1191748E723C}">
  <ds:schemaRefs>
    <ds:schemaRef ds:uri="http://purl.org/dc/dcmitype/"/>
    <ds:schemaRef ds:uri="48190eb6-8e6e-4223-a66e-2e079989e3d0"/>
    <ds:schemaRef ds:uri="b841f3fa-9ef8-4e95-9162-d8f0c2a8a62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9CF3255-0371-4308-9A10-F51142D1603D}"/>
</file>

<file path=docProps/app.xml><?xml version="1.0" encoding="utf-8"?>
<Properties xmlns="http://schemas.openxmlformats.org/officeDocument/2006/extended-properties" xmlns:vt="http://schemas.openxmlformats.org/officeDocument/2006/docPropsVTypes">
  <TotalTime>38528</TotalTime>
  <Words>1104</Words>
  <Application>Microsoft Office PowerPoint</Application>
  <PresentationFormat>Presentación en pantalla (16:9)</PresentationFormat>
  <Paragraphs>283</Paragraphs>
  <Slides>25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18</vt:i4>
      </vt:variant>
      <vt:variant>
        <vt:lpstr>Títulos de diapositiva</vt:lpstr>
      </vt:variant>
      <vt:variant>
        <vt:i4>25</vt:i4>
      </vt:variant>
    </vt:vector>
  </HeadingPairs>
  <TitlesOfParts>
    <vt:vector size="43" baseType="lpstr">
      <vt:lpstr>17_Tema de Office</vt:lpstr>
      <vt:lpstr>18_Tema de Office</vt:lpstr>
      <vt:lpstr>19_Tema de Office</vt:lpstr>
      <vt:lpstr>9_Tema de Office</vt:lpstr>
      <vt:lpstr>4_Tema de Office</vt:lpstr>
      <vt:lpstr>11_Tema de Office</vt:lpstr>
      <vt:lpstr>6_Tema de Office</vt:lpstr>
      <vt:lpstr>12_Tema de Office</vt:lpstr>
      <vt:lpstr>5_Tema de Office</vt:lpstr>
      <vt:lpstr>10_Tema de Office</vt:lpstr>
      <vt:lpstr>20_Tema de Office</vt:lpstr>
      <vt:lpstr>21_Tema de Office</vt:lpstr>
      <vt:lpstr>36_Tema de Office</vt:lpstr>
      <vt:lpstr>32_Tema de Office</vt:lpstr>
      <vt:lpstr>29_Tema de Office</vt:lpstr>
      <vt:lpstr>35_Tema de Office</vt:lpstr>
      <vt:lpstr>37_Tema de Office</vt:lpstr>
      <vt:lpstr>38_Tema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Mercado</dc:title>
  <dc:creator>GEIH - Mercado Laboral</dc:creator>
  <cp:lastModifiedBy>María Angélica Cruz Herrera</cp:lastModifiedBy>
  <cp:revision>1558</cp:revision>
  <cp:lastPrinted>2020-03-03T16:51:54Z</cp:lastPrinted>
  <dcterms:created xsi:type="dcterms:W3CDTF">2018-06-21T20:42:53Z</dcterms:created>
  <dcterms:modified xsi:type="dcterms:W3CDTF">2025-10-21T16:22:48Z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0x010100071B0C79EC65C64C8028616C896BAA13</vt:lpwstr>
  </property>
  <property fmtid="{D5CDD505-2E9C-101B-9397-08002B2CF9AE}" pid="3" name="MediaServiceImageTags">
    <vt:lpwstr/>
  </property>
</Properties>
</file>